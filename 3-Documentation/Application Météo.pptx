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18"/>
  </p:notesMasterIdLst>
  <p:handoutMasterIdLst>
    <p:handoutMasterId r:id="rId19"/>
  </p:handoutMasterIdLst>
  <p:sldIdLst>
    <p:sldId id="256" r:id="rId5"/>
    <p:sldId id="278" r:id="rId6"/>
    <p:sldId id="277" r:id="rId7"/>
    <p:sldId id="288" r:id="rId8"/>
    <p:sldId id="289" r:id="rId9"/>
    <p:sldId id="280" r:id="rId10"/>
    <p:sldId id="281" r:id="rId11"/>
    <p:sldId id="282" r:id="rId12"/>
    <p:sldId id="283" r:id="rId13"/>
    <p:sldId id="284" r:id="rId14"/>
    <p:sldId id="285" r:id="rId15"/>
    <p:sldId id="286" r:id="rId16"/>
    <p:sldId id="287" r:id="rId17"/>
  </p:sldIdLst>
  <p:sldSz cx="12192000" cy="6858000"/>
  <p:notesSz cx="6858000" cy="9144000"/>
  <p:defaultTextStyle>
    <a:defPPr rtl="0">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0791" autoAdjust="0"/>
  </p:normalViewPr>
  <p:slideViewPr>
    <p:cSldViewPr snapToGrid="0">
      <p:cViewPr varScale="1">
        <p:scale>
          <a:sx n="77" d="100"/>
          <a:sy n="77" d="100"/>
        </p:scale>
        <p:origin x="864" y="6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8" d="100"/>
          <a:sy n="88" d="100"/>
        </p:scale>
        <p:origin x="3792"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757FDB26-16AF-4C82-AF7A-92449513F3F4}" type="datetime1">
              <a:rPr lang="fr-FR" smtClean="0"/>
              <a:t>04/03/2025</a:t>
            </a:fld>
            <a:endParaRPr lang="fr-FR"/>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FB53ADFC-ABB8-401A-BB24-33FDAFEDCEBD}" type="slidenum">
              <a:rPr lang="fr-FR" smtClean="0"/>
              <a:t>‹N°›</a:t>
            </a:fld>
            <a:endParaRPr lang="fr-FR"/>
          </a:p>
        </p:txBody>
      </p:sp>
    </p:spTree>
    <p:extLst>
      <p:ext uri="{BB962C8B-B14F-4D97-AF65-F5344CB8AC3E}">
        <p14:creationId xmlns:p14="http://schemas.microsoft.com/office/powerpoint/2010/main" val="273324930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noProof="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360E9541-3375-4528-AC9C-1D7FD00C3017}" type="datetime1">
              <a:rPr lang="fr-FR" noProof="0" smtClean="0"/>
              <a:t>04/03/2025</a:t>
            </a:fld>
            <a:endParaRPr lang="fr-FR" noProof="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fr-FR" noProof="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noProof="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B725628-3A68-42F4-BA86-981817953149}" type="slidenum">
              <a:rPr lang="fr-FR" noProof="0" smtClean="0"/>
              <a:t>‹N°›</a:t>
            </a:fld>
            <a:endParaRPr lang="fr-FR" noProof="0"/>
          </a:p>
        </p:txBody>
      </p:sp>
    </p:spTree>
    <p:extLst>
      <p:ext uri="{BB962C8B-B14F-4D97-AF65-F5344CB8AC3E}">
        <p14:creationId xmlns:p14="http://schemas.microsoft.com/office/powerpoint/2010/main" val="64925861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10"/>
          </p:nvPr>
        </p:nvSpPr>
        <p:spPr/>
        <p:txBody>
          <a:bodyPr rtlCol="0"/>
          <a:lstStyle/>
          <a:p>
            <a:pPr rtl="0"/>
            <a:fld id="{4B725628-3A68-42F4-BA86-981817953149}" type="slidenum">
              <a:rPr lang="fr-FR" smtClean="0"/>
              <a:t>1</a:t>
            </a:fld>
            <a:endParaRPr lang="fr-FR"/>
          </a:p>
        </p:txBody>
      </p:sp>
    </p:spTree>
    <p:extLst>
      <p:ext uri="{BB962C8B-B14F-4D97-AF65-F5344CB8AC3E}">
        <p14:creationId xmlns:p14="http://schemas.microsoft.com/office/powerpoint/2010/main" val="38592577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dirty="0"/>
          </a:p>
        </p:txBody>
      </p:sp>
      <p:sp>
        <p:nvSpPr>
          <p:cNvPr id="4" name="Espace réservé du numéro de diapositive 3"/>
          <p:cNvSpPr>
            <a:spLocks noGrp="1"/>
          </p:cNvSpPr>
          <p:nvPr>
            <p:ph type="sldNum" sz="quarter" idx="10"/>
          </p:nvPr>
        </p:nvSpPr>
        <p:spPr/>
        <p:txBody>
          <a:bodyPr rtlCol="0"/>
          <a:lstStyle/>
          <a:p>
            <a:pPr rtl="0"/>
            <a:fld id="{4B725628-3A68-42F4-BA86-981817953149}" type="slidenum">
              <a:rPr lang="fr-FR" smtClean="0"/>
              <a:t>3</a:t>
            </a:fld>
            <a:endParaRPr lang="fr-FR"/>
          </a:p>
        </p:txBody>
      </p:sp>
    </p:spTree>
    <p:extLst>
      <p:ext uri="{BB962C8B-B14F-4D97-AF65-F5344CB8AC3E}">
        <p14:creationId xmlns:p14="http://schemas.microsoft.com/office/powerpoint/2010/main" val="39598457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PlantUML</a:t>
            </a:r>
            <a:r>
              <a:rPr lang="fr-FR" dirty="0"/>
              <a:t> est un outil qui permet de générer des diagrammes à partir d'une syntaxe textuelle simple. Il est utilisé pour modéliser et documenter visuellement des architectures logicielles, des processus métiers et diverses interactions entre composants, ce qui facilite la communication technique et la compréhension des systèmes complexes.</a:t>
            </a:r>
          </a:p>
        </p:txBody>
      </p:sp>
      <p:sp>
        <p:nvSpPr>
          <p:cNvPr id="4" name="Espace réservé du numéro de diapositive 3"/>
          <p:cNvSpPr>
            <a:spLocks noGrp="1"/>
          </p:cNvSpPr>
          <p:nvPr>
            <p:ph type="sldNum" sz="quarter" idx="5"/>
          </p:nvPr>
        </p:nvSpPr>
        <p:spPr/>
        <p:txBody>
          <a:bodyPr/>
          <a:lstStyle/>
          <a:p>
            <a:pPr rtl="0"/>
            <a:fld id="{4B725628-3A68-42F4-BA86-981817953149}" type="slidenum">
              <a:rPr lang="fr-FR" noProof="0" smtClean="0"/>
              <a:t>4</a:t>
            </a:fld>
            <a:endParaRPr lang="fr-FR" noProof="0"/>
          </a:p>
        </p:txBody>
      </p:sp>
    </p:spTree>
    <p:extLst>
      <p:ext uri="{BB962C8B-B14F-4D97-AF65-F5344CB8AC3E}">
        <p14:creationId xmlns:p14="http://schemas.microsoft.com/office/powerpoint/2010/main" val="5910907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L'UML (</a:t>
            </a:r>
            <a:r>
              <a:rPr lang="fr-FR" dirty="0" err="1"/>
              <a:t>Unified</a:t>
            </a:r>
            <a:r>
              <a:rPr lang="fr-FR" dirty="0"/>
              <a:t> Modeling </a:t>
            </a:r>
            <a:r>
              <a:rPr lang="fr-FR" dirty="0" err="1"/>
              <a:t>Language</a:t>
            </a:r>
            <a:r>
              <a:rPr lang="fr-FR" dirty="0"/>
              <a:t> ou </a:t>
            </a:r>
            <a:r>
              <a:rPr lang="fr-FR" b="1" dirty="0"/>
              <a:t>Langage de modélisation unifiée</a:t>
            </a:r>
            <a:r>
              <a:rPr lang="fr-FR" dirty="0"/>
              <a:t> en français) est un langage graphique de modélisation informatique. Ce langage est désormais la référence en modélisation objet, ou programmation orientée objet</a:t>
            </a:r>
          </a:p>
        </p:txBody>
      </p:sp>
      <p:sp>
        <p:nvSpPr>
          <p:cNvPr id="4" name="Espace réservé du numéro de diapositive 3"/>
          <p:cNvSpPr>
            <a:spLocks noGrp="1"/>
          </p:cNvSpPr>
          <p:nvPr>
            <p:ph type="sldNum" sz="quarter" idx="5"/>
          </p:nvPr>
        </p:nvSpPr>
        <p:spPr/>
        <p:txBody>
          <a:bodyPr/>
          <a:lstStyle/>
          <a:p>
            <a:pPr rtl="0"/>
            <a:fld id="{4B725628-3A68-42F4-BA86-981817953149}" type="slidenum">
              <a:rPr lang="fr-FR" noProof="0" smtClean="0"/>
              <a:t>5</a:t>
            </a:fld>
            <a:endParaRPr lang="fr-FR" noProof="0"/>
          </a:p>
        </p:txBody>
      </p:sp>
    </p:spTree>
    <p:extLst>
      <p:ext uri="{BB962C8B-B14F-4D97-AF65-F5344CB8AC3E}">
        <p14:creationId xmlns:p14="http://schemas.microsoft.com/office/powerpoint/2010/main" val="36477184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fontAlgn="base">
              <a:spcBef>
                <a:spcPts val="300"/>
              </a:spcBef>
              <a:spcAft>
                <a:spcPts val="300"/>
              </a:spcAft>
              <a:buFont typeface="Arial" panose="020B0604020202020204" pitchFamily="34" charset="0"/>
              <a:buChar char="•"/>
            </a:pPr>
            <a:r>
              <a:rPr lang="fr-FR" b="0" i="0" dirty="0">
                <a:effectLst/>
                <a:latin typeface="inherit"/>
              </a:rPr>
              <a:t>POST : on </a:t>
            </a:r>
            <a:r>
              <a:rPr lang="fr-FR" b="0" i="0" dirty="0" err="1">
                <a:effectLst/>
                <a:latin typeface="inherit"/>
              </a:rPr>
              <a:t>upload</a:t>
            </a:r>
            <a:r>
              <a:rPr lang="fr-FR" b="0" i="0" dirty="0">
                <a:effectLst/>
                <a:latin typeface="inherit"/>
              </a:rPr>
              <a:t> de la donnée sur un serveur distant</a:t>
            </a:r>
          </a:p>
          <a:p>
            <a:pPr algn="l" fontAlgn="base">
              <a:spcBef>
                <a:spcPts val="300"/>
              </a:spcBef>
              <a:spcAft>
                <a:spcPts val="300"/>
              </a:spcAft>
              <a:buFont typeface="Arial" panose="020B0604020202020204" pitchFamily="34" charset="0"/>
              <a:buChar char="•"/>
            </a:pPr>
            <a:r>
              <a:rPr lang="fr-FR" b="0" i="0" dirty="0">
                <a:effectLst/>
                <a:latin typeface="inherit"/>
              </a:rPr>
              <a:t>GET : on download de la donnée à partir d'un serveur distant)</a:t>
            </a:r>
          </a:p>
          <a:p>
            <a:br>
              <a:rPr lang="fr-FR" b="0" i="0" dirty="0">
                <a:effectLst/>
                <a:latin typeface="gg sans"/>
              </a:rPr>
            </a:br>
            <a:r>
              <a:rPr lang="fr-FR" dirty="0"/>
              <a:t>Un </a:t>
            </a:r>
            <a:r>
              <a:rPr lang="fr-FR" dirty="0" err="1"/>
              <a:t>endpoint</a:t>
            </a:r>
            <a:r>
              <a:rPr lang="fr-FR" dirty="0"/>
              <a:t>, dans le cadre d’une API telle que celle de </a:t>
            </a:r>
            <a:r>
              <a:rPr lang="fr-FR" dirty="0" err="1"/>
              <a:t>Nominatim</a:t>
            </a:r>
            <a:r>
              <a:rPr lang="fr-FR" dirty="0"/>
              <a:t>, désigne une adresse (URL) précise qui reçoit et traite une requête pour fournir une réponse au format JSON, XML ou autre. Par exemple, </a:t>
            </a:r>
            <a:r>
              <a:rPr lang="fr-FR" dirty="0" err="1"/>
              <a:t>l’endpoint</a:t>
            </a:r>
            <a:r>
              <a:rPr lang="fr-FR" dirty="0"/>
              <a:t> “/</a:t>
            </a:r>
            <a:r>
              <a:rPr lang="fr-FR" dirty="0" err="1"/>
              <a:t>search</a:t>
            </a:r>
            <a:r>
              <a:rPr lang="fr-FR" dirty="0"/>
              <a:t>” sert à la recherche d’adresses (géocodage), tandis que “/reverse” retourne une adresse à partir de coordonnées géographiques (reverse géocodage).</a:t>
            </a:r>
          </a:p>
        </p:txBody>
      </p:sp>
      <p:sp>
        <p:nvSpPr>
          <p:cNvPr id="4" name="Espace réservé du numéro de diapositive 3"/>
          <p:cNvSpPr>
            <a:spLocks noGrp="1"/>
          </p:cNvSpPr>
          <p:nvPr>
            <p:ph type="sldNum" sz="quarter" idx="5"/>
          </p:nvPr>
        </p:nvSpPr>
        <p:spPr/>
        <p:txBody>
          <a:bodyPr/>
          <a:lstStyle/>
          <a:p>
            <a:pPr rtl="0"/>
            <a:fld id="{4B725628-3A68-42F4-BA86-981817953149}" type="slidenum">
              <a:rPr lang="fr-FR" noProof="0" smtClean="0"/>
              <a:t>6</a:t>
            </a:fld>
            <a:endParaRPr lang="fr-FR" noProof="0"/>
          </a:p>
        </p:txBody>
      </p:sp>
    </p:spTree>
    <p:extLst>
      <p:ext uri="{BB962C8B-B14F-4D97-AF65-F5344CB8AC3E}">
        <p14:creationId xmlns:p14="http://schemas.microsoft.com/office/powerpoint/2010/main" val="646509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Nominatim</a:t>
            </a:r>
            <a:r>
              <a:rPr lang="fr-FR" dirty="0"/>
              <a:t> est un service de géocodage open source reposant sur les données collaboratives d’</a:t>
            </a:r>
            <a:r>
              <a:rPr lang="fr-FR" dirty="0" err="1"/>
              <a:t>OpenStreetMap</a:t>
            </a:r>
            <a:r>
              <a:rPr lang="fr-FR" dirty="0"/>
              <a:t>, capable de transformer des adresses ou descriptions textuelles en coordonnées géographiques et, inversement, de fournir des adresses à partir de points sur une carte. Son caractère libre et sa richesse de données mises à jour en continu en font une alternative solide aux solutions propriétaires, généralement privilégiée pour les projets nécessitant une intégration flexible et personnalisable.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err="1"/>
              <a:t>Nominatim</a:t>
            </a:r>
            <a:r>
              <a:rPr lang="fr-FR" dirty="0"/>
              <a:t> (du latin, 'par nom') est un outil pour la recherche de données OSM par nom et </a:t>
            </a:r>
            <a:r>
              <a:rPr lang="fr-FR" dirty="0" err="1"/>
              <a:t>et</a:t>
            </a:r>
            <a:r>
              <a:rPr lang="fr-FR" dirty="0"/>
              <a:t> générer des adresses synthétiques de points OSM (</a:t>
            </a:r>
            <a:r>
              <a:rPr lang="fr-FR" dirty="0" err="1"/>
              <a:t>géodification</a:t>
            </a:r>
            <a:r>
              <a:rPr lang="fr-FR" dirty="0"/>
              <a:t> inverse). Il a également une capacité limitée à rechercher des fonctionnalités par leur type. (pubs, hôtels, églises, etc.).</a:t>
            </a:r>
          </a:p>
          <a:p>
            <a:endParaRPr lang="fr-FR" dirty="0"/>
          </a:p>
        </p:txBody>
      </p:sp>
      <p:sp>
        <p:nvSpPr>
          <p:cNvPr id="4" name="Espace réservé du numéro de diapositive 3"/>
          <p:cNvSpPr>
            <a:spLocks noGrp="1"/>
          </p:cNvSpPr>
          <p:nvPr>
            <p:ph type="sldNum" sz="quarter" idx="5"/>
          </p:nvPr>
        </p:nvSpPr>
        <p:spPr/>
        <p:txBody>
          <a:bodyPr/>
          <a:lstStyle/>
          <a:p>
            <a:pPr rtl="0"/>
            <a:fld id="{4B725628-3A68-42F4-BA86-981817953149}" type="slidenum">
              <a:rPr lang="fr-FR" noProof="0" smtClean="0"/>
              <a:t>9</a:t>
            </a:fld>
            <a:endParaRPr lang="fr-FR" noProof="0"/>
          </a:p>
        </p:txBody>
      </p:sp>
    </p:spTree>
    <p:extLst>
      <p:ext uri="{BB962C8B-B14F-4D97-AF65-F5344CB8AC3E}">
        <p14:creationId xmlns:p14="http://schemas.microsoft.com/office/powerpoint/2010/main" val="25849067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e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re 1"/>
          <p:cNvSpPr>
            <a:spLocks noGrp="1"/>
          </p:cNvSpPr>
          <p:nvPr>
            <p:ph type="ctrTitle"/>
          </p:nvPr>
        </p:nvSpPr>
        <p:spPr>
          <a:xfrm>
            <a:off x="457200" y="4960137"/>
            <a:ext cx="7772400" cy="1463040"/>
          </a:xfrm>
        </p:spPr>
        <p:txBody>
          <a:bodyPr rtlCol="0" anchor="ctr">
            <a:normAutofit/>
          </a:bodyPr>
          <a:lstStyle>
            <a:lvl1pPr algn="r">
              <a:defRPr sz="5000" spc="200" baseline="0"/>
            </a:lvl1pPr>
          </a:lstStyle>
          <a:p>
            <a:pPr rtl="0"/>
            <a:r>
              <a:rPr lang="fr-FR" noProof="0"/>
              <a:t>Modifiez le style du titre</a:t>
            </a:r>
          </a:p>
        </p:txBody>
      </p:sp>
      <p:sp>
        <p:nvSpPr>
          <p:cNvPr id="3" name="Sous-titre 2"/>
          <p:cNvSpPr>
            <a:spLocks noGrp="1"/>
          </p:cNvSpPr>
          <p:nvPr>
            <p:ph type="subTitle" idx="1" hasCustomPrompt="1"/>
          </p:nvPr>
        </p:nvSpPr>
        <p:spPr>
          <a:xfrm>
            <a:off x="8610600" y="4960137"/>
            <a:ext cx="3200400" cy="1463040"/>
          </a:xfrm>
        </p:spPr>
        <p:txBody>
          <a:bodyPr lIns="91440" rIns="91440" rtlCol="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pPr rtl="0"/>
            <a:r>
              <a:rPr lang="fr-FR" noProof="0"/>
              <a:t>Cliquez pour modifier le style des sous-titres du masque</a:t>
            </a:r>
          </a:p>
        </p:txBody>
      </p:sp>
      <p:sp>
        <p:nvSpPr>
          <p:cNvPr id="4" name="Espace réservé de la date 3"/>
          <p:cNvSpPr>
            <a:spLocks noGrp="1"/>
          </p:cNvSpPr>
          <p:nvPr>
            <p:ph type="dt" sz="half" idx="10"/>
          </p:nvPr>
        </p:nvSpPr>
        <p:spPr/>
        <p:txBody>
          <a:bodyPr rtlCol="0"/>
          <a:lstStyle>
            <a:lvl1pPr algn="l">
              <a:defRPr/>
            </a:lvl1pPr>
          </a:lstStyle>
          <a:p>
            <a:pPr rtl="0"/>
            <a:fld id="{E27949C9-1C26-45BB-BA53-FCDDA512553D}" type="datetime1">
              <a:rPr lang="fr-FR" noProof="0" smtClean="0"/>
              <a:t>04/03/2025</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p:txBody>
          <a:bodyPr rtlCol="0"/>
          <a:lstStyle/>
          <a:p>
            <a:pPr rtl="0"/>
            <a:fld id="{4FAB73BC-B049-4115-A692-8D63A059BFB8}" type="slidenum">
              <a:rPr lang="fr-FR" noProof="0" smtClean="0"/>
              <a:t>‹N°›</a:t>
            </a:fld>
            <a:endParaRPr lang="fr-FR" noProof="0"/>
          </a:p>
        </p:txBody>
      </p:sp>
      <p:cxnSp>
        <p:nvCxnSpPr>
          <p:cNvPr id="8" name="Connecteur droit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noProof="0"/>
              <a:t>Modifiez le style du titre</a:t>
            </a:r>
          </a:p>
        </p:txBody>
      </p:sp>
      <p:sp>
        <p:nvSpPr>
          <p:cNvPr id="3" name="Espace réservé du contenu 2"/>
          <p:cNvSpPr>
            <a:spLocks noGrp="1"/>
          </p:cNvSpPr>
          <p:nvPr>
            <p:ph idx="1" hasCustomPrompt="1"/>
          </p:nvPr>
        </p:nvSpPr>
        <p:spPr/>
        <p:txBody>
          <a:bodyPr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p:cNvSpPr>
            <a:spLocks noGrp="1"/>
          </p:cNvSpPr>
          <p:nvPr>
            <p:ph type="dt" sz="half" idx="10"/>
          </p:nvPr>
        </p:nvSpPr>
        <p:spPr/>
        <p:txBody>
          <a:bodyPr rtlCol="0"/>
          <a:lstStyle/>
          <a:p>
            <a:pPr rtl="0"/>
            <a:fld id="{2B70CDC4-B118-436F-8999-4E53124174C8}" type="datetime1">
              <a:rPr lang="fr-FR" noProof="0" smtClean="0"/>
              <a:t>04/03/2025</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p:txBody>
          <a:bodyPr rtlCol="0"/>
          <a:lstStyle/>
          <a:p>
            <a:pPr rtl="0"/>
            <a:fld id="{4FAB73BC-B049-4115-A692-8D63A059BFB8}" type="slidenum">
              <a:rPr lang="fr-FR" noProof="0" smtClean="0"/>
              <a:t>‹N°›</a:t>
            </a:fld>
            <a:endParaRPr lang="fr-FR" noProof="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tête de section">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e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re 1"/>
          <p:cNvSpPr>
            <a:spLocks noGrp="1"/>
          </p:cNvSpPr>
          <p:nvPr>
            <p:ph type="title"/>
          </p:nvPr>
        </p:nvSpPr>
        <p:spPr>
          <a:xfrm>
            <a:off x="457200" y="4960137"/>
            <a:ext cx="7772400" cy="1463040"/>
          </a:xfrm>
        </p:spPr>
        <p:txBody>
          <a:bodyPr rtlCol="0" anchor="ctr">
            <a:normAutofit/>
          </a:bodyPr>
          <a:lstStyle>
            <a:lvl1pPr algn="r">
              <a:defRPr sz="5000" b="0" spc="200" baseline="0"/>
            </a:lvl1pPr>
          </a:lstStyle>
          <a:p>
            <a:pPr rtl="0"/>
            <a:r>
              <a:rPr lang="fr-FR" noProof="0"/>
              <a:t>Modifiez le style du titre</a:t>
            </a:r>
          </a:p>
        </p:txBody>
      </p:sp>
      <p:sp>
        <p:nvSpPr>
          <p:cNvPr id="3" name="Espace réservé du texte 2"/>
          <p:cNvSpPr>
            <a:spLocks noGrp="1"/>
          </p:cNvSpPr>
          <p:nvPr>
            <p:ph type="body" idx="1" hasCustomPrompt="1"/>
          </p:nvPr>
        </p:nvSpPr>
        <p:spPr>
          <a:xfrm>
            <a:off x="8610600" y="4960137"/>
            <a:ext cx="3200400" cy="1463040"/>
          </a:xfrm>
        </p:spPr>
        <p:txBody>
          <a:bodyPr lIns="91440" rIns="91440" rtlCol="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fr-FR" noProof="0" dirty="0"/>
              <a:t>Modifiez les styles du texte du masque</a:t>
            </a:r>
          </a:p>
        </p:txBody>
      </p:sp>
      <p:sp>
        <p:nvSpPr>
          <p:cNvPr id="4" name="Espace réservé de la date 3"/>
          <p:cNvSpPr>
            <a:spLocks noGrp="1"/>
          </p:cNvSpPr>
          <p:nvPr>
            <p:ph type="dt" sz="half" idx="10"/>
          </p:nvPr>
        </p:nvSpPr>
        <p:spPr/>
        <p:txBody>
          <a:bodyPr rtlCol="0"/>
          <a:lstStyle/>
          <a:p>
            <a:pPr rtl="0"/>
            <a:fld id="{0CB3B74C-3552-4EC5-970E-EA08B17DE6C3}" type="datetime1">
              <a:rPr lang="fr-FR" noProof="0" smtClean="0"/>
              <a:t>04/03/2025</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p:txBody>
          <a:bodyPr rtlCol="0"/>
          <a:lstStyle/>
          <a:p>
            <a:pPr rtl="0"/>
            <a:fld id="{4FAB73BC-B049-4115-A692-8D63A059BFB8}" type="slidenum">
              <a:rPr lang="fr-FR" noProof="0" smtClean="0"/>
              <a:t>‹N°›</a:t>
            </a:fld>
            <a:endParaRPr lang="fr-FR" noProof="0"/>
          </a:p>
        </p:txBody>
      </p:sp>
      <p:cxnSp>
        <p:nvCxnSpPr>
          <p:cNvPr id="8" name="Connecteur droit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1024128" y="585216"/>
            <a:ext cx="9720072" cy="1499616"/>
          </a:xfrm>
        </p:spPr>
        <p:txBody>
          <a:bodyPr rtlCol="0"/>
          <a:lstStyle/>
          <a:p>
            <a:pPr rtl="0"/>
            <a:r>
              <a:rPr lang="fr-FR" noProof="0"/>
              <a:t>Modifiez le style du titre</a:t>
            </a:r>
          </a:p>
        </p:txBody>
      </p:sp>
      <p:sp>
        <p:nvSpPr>
          <p:cNvPr id="3" name="Espace réservé du contenu 2"/>
          <p:cNvSpPr>
            <a:spLocks noGrp="1"/>
          </p:cNvSpPr>
          <p:nvPr>
            <p:ph sz="half" idx="1" hasCustomPrompt="1"/>
          </p:nvPr>
        </p:nvSpPr>
        <p:spPr>
          <a:xfrm>
            <a:off x="1024127" y="2286000"/>
            <a:ext cx="4754880" cy="4023360"/>
          </a:xfrm>
        </p:spPr>
        <p:txBody>
          <a:bodyPr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u contenu 3"/>
          <p:cNvSpPr>
            <a:spLocks noGrp="1"/>
          </p:cNvSpPr>
          <p:nvPr>
            <p:ph sz="half" idx="2" hasCustomPrompt="1"/>
          </p:nvPr>
        </p:nvSpPr>
        <p:spPr>
          <a:xfrm>
            <a:off x="5989320" y="2286000"/>
            <a:ext cx="4754880" cy="4023360"/>
          </a:xfrm>
        </p:spPr>
        <p:txBody>
          <a:bodyPr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5" name="Espace réservé de la date 4"/>
          <p:cNvSpPr>
            <a:spLocks noGrp="1"/>
          </p:cNvSpPr>
          <p:nvPr>
            <p:ph type="dt" sz="half" idx="10"/>
          </p:nvPr>
        </p:nvSpPr>
        <p:spPr/>
        <p:txBody>
          <a:bodyPr rtlCol="0"/>
          <a:lstStyle/>
          <a:p>
            <a:pPr rtl="0"/>
            <a:fld id="{BA86671B-8518-416E-9A93-110C3FC765B0}" type="datetime1">
              <a:rPr lang="fr-FR" noProof="0" smtClean="0"/>
              <a:t>04/03/2025</a:t>
            </a:fld>
            <a:endParaRPr lang="fr-FR" noProof="0"/>
          </a:p>
        </p:txBody>
      </p:sp>
      <p:sp>
        <p:nvSpPr>
          <p:cNvPr id="6" name="Espace réservé du pied de page 5"/>
          <p:cNvSpPr>
            <a:spLocks noGrp="1"/>
          </p:cNvSpPr>
          <p:nvPr>
            <p:ph type="ftr" sz="quarter" idx="11"/>
          </p:nvPr>
        </p:nvSpPr>
        <p:spPr/>
        <p:txBody>
          <a:bodyPr rtlCol="0"/>
          <a:lstStyle/>
          <a:p>
            <a:pPr rtl="0"/>
            <a:endParaRPr lang="fr-FR" noProof="0"/>
          </a:p>
        </p:txBody>
      </p:sp>
      <p:sp>
        <p:nvSpPr>
          <p:cNvPr id="7" name="Espace réservé du numéro de diapositive 6"/>
          <p:cNvSpPr>
            <a:spLocks noGrp="1"/>
          </p:cNvSpPr>
          <p:nvPr>
            <p:ph type="sldNum" sz="quarter" idx="12"/>
          </p:nvPr>
        </p:nvSpPr>
        <p:spPr/>
        <p:txBody>
          <a:bodyPr rtlCol="0"/>
          <a:lstStyle/>
          <a:p>
            <a:pPr rtl="0"/>
            <a:fld id="{4FAB73BC-B049-4115-A692-8D63A059BFB8}" type="slidenum">
              <a:rPr lang="fr-FR" noProof="0" smtClean="0"/>
              <a:t>‹N°›</a:t>
            </a:fld>
            <a:endParaRPr lang="fr-FR" noProof="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re 9"/>
          <p:cNvSpPr>
            <a:spLocks noGrp="1"/>
          </p:cNvSpPr>
          <p:nvPr>
            <p:ph type="title"/>
          </p:nvPr>
        </p:nvSpPr>
        <p:spPr/>
        <p:txBody>
          <a:bodyPr rtlCol="0"/>
          <a:lstStyle/>
          <a:p>
            <a:pPr rtl="0"/>
            <a:r>
              <a:rPr lang="fr-FR" noProof="0"/>
              <a:t>Modifiez le style du titre</a:t>
            </a:r>
          </a:p>
        </p:txBody>
      </p:sp>
      <p:sp>
        <p:nvSpPr>
          <p:cNvPr id="3" name="Espace réservé du texte 2"/>
          <p:cNvSpPr>
            <a:spLocks noGrp="1"/>
          </p:cNvSpPr>
          <p:nvPr>
            <p:ph type="body" idx="1" hasCustomPrompt="1"/>
          </p:nvPr>
        </p:nvSpPr>
        <p:spPr>
          <a:xfrm>
            <a:off x="1024128" y="2179636"/>
            <a:ext cx="4754880" cy="822960"/>
          </a:xfrm>
        </p:spPr>
        <p:txBody>
          <a:bodyPr lIns="137160" rIns="137160" rtlCol="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Modifiez les styles du texte du masque</a:t>
            </a:r>
          </a:p>
        </p:txBody>
      </p:sp>
      <p:sp>
        <p:nvSpPr>
          <p:cNvPr id="4" name="Espace réservé du contenu 3"/>
          <p:cNvSpPr>
            <a:spLocks noGrp="1"/>
          </p:cNvSpPr>
          <p:nvPr>
            <p:ph sz="half" idx="2" hasCustomPrompt="1"/>
          </p:nvPr>
        </p:nvSpPr>
        <p:spPr>
          <a:xfrm>
            <a:off x="1024128" y="2967788"/>
            <a:ext cx="4754880" cy="3341572"/>
          </a:xfrm>
        </p:spPr>
        <p:txBody>
          <a:bodyPr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5" name="Espace réservé du texte 4"/>
          <p:cNvSpPr>
            <a:spLocks noGrp="1"/>
          </p:cNvSpPr>
          <p:nvPr>
            <p:ph type="body" sz="quarter" idx="3" hasCustomPrompt="1"/>
          </p:nvPr>
        </p:nvSpPr>
        <p:spPr>
          <a:xfrm>
            <a:off x="5990888" y="2179636"/>
            <a:ext cx="4754880" cy="822960"/>
          </a:xfrm>
        </p:spPr>
        <p:txBody>
          <a:bodyPr lIns="137160" rIns="137160" rtlCol="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dirty="0"/>
              <a:t>Modifiez les styles du texte du masque</a:t>
            </a:r>
          </a:p>
        </p:txBody>
      </p:sp>
      <p:sp>
        <p:nvSpPr>
          <p:cNvPr id="6" name="Espace réservé du contenu 5"/>
          <p:cNvSpPr>
            <a:spLocks noGrp="1"/>
          </p:cNvSpPr>
          <p:nvPr>
            <p:ph sz="quarter" idx="4" hasCustomPrompt="1"/>
          </p:nvPr>
        </p:nvSpPr>
        <p:spPr>
          <a:xfrm>
            <a:off x="5990888" y="2967788"/>
            <a:ext cx="4754880" cy="3341572"/>
          </a:xfrm>
        </p:spPr>
        <p:txBody>
          <a:bodyPr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7" name="Espace réservé de la date 6"/>
          <p:cNvSpPr>
            <a:spLocks noGrp="1"/>
          </p:cNvSpPr>
          <p:nvPr>
            <p:ph type="dt" sz="half" idx="10"/>
          </p:nvPr>
        </p:nvSpPr>
        <p:spPr/>
        <p:txBody>
          <a:bodyPr rtlCol="0"/>
          <a:lstStyle/>
          <a:p>
            <a:pPr rtl="0"/>
            <a:fld id="{B95CA171-7817-4EB8-BD06-8DC08B6DD669}" type="datetime1">
              <a:rPr lang="fr-FR" noProof="0" smtClean="0"/>
              <a:t>04/03/2025</a:t>
            </a:fld>
            <a:endParaRPr lang="fr-FR" noProof="0"/>
          </a:p>
        </p:txBody>
      </p:sp>
      <p:sp>
        <p:nvSpPr>
          <p:cNvPr id="8" name="Espace réservé du pied de page 7"/>
          <p:cNvSpPr>
            <a:spLocks noGrp="1"/>
          </p:cNvSpPr>
          <p:nvPr>
            <p:ph type="ftr" sz="quarter" idx="11"/>
          </p:nvPr>
        </p:nvSpPr>
        <p:spPr/>
        <p:txBody>
          <a:bodyPr rtlCol="0"/>
          <a:lstStyle/>
          <a:p>
            <a:pPr rtl="0"/>
            <a:endParaRPr lang="fr-FR" noProof="0"/>
          </a:p>
        </p:txBody>
      </p:sp>
      <p:sp>
        <p:nvSpPr>
          <p:cNvPr id="9" name="Espace réservé du numéro de diapositive 8"/>
          <p:cNvSpPr>
            <a:spLocks noGrp="1"/>
          </p:cNvSpPr>
          <p:nvPr>
            <p:ph type="sldNum" sz="quarter" idx="12"/>
          </p:nvPr>
        </p:nvSpPr>
        <p:spPr/>
        <p:txBody>
          <a:bodyPr rtlCol="0"/>
          <a:lstStyle/>
          <a:p>
            <a:pPr rtl="0"/>
            <a:fld id="{4FAB73BC-B049-4115-A692-8D63A059BFB8}" type="slidenum">
              <a:rPr lang="fr-FR" noProof="0" smtClean="0"/>
              <a:t>‹N°›</a:t>
            </a:fld>
            <a:endParaRPr lang="fr-FR" noProof="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uniquement">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noProof="0"/>
              <a:t>Modifiez le style du titre</a:t>
            </a:r>
          </a:p>
        </p:txBody>
      </p:sp>
      <p:sp>
        <p:nvSpPr>
          <p:cNvPr id="3" name="Espace réservé de la date 2"/>
          <p:cNvSpPr>
            <a:spLocks noGrp="1"/>
          </p:cNvSpPr>
          <p:nvPr>
            <p:ph type="dt" sz="half" idx="10"/>
          </p:nvPr>
        </p:nvSpPr>
        <p:spPr/>
        <p:txBody>
          <a:bodyPr rtlCol="0"/>
          <a:lstStyle/>
          <a:p>
            <a:pPr rtl="0"/>
            <a:fld id="{A8CB6A67-71AB-4430-8E9A-3C4E54AB6270}" type="datetime1">
              <a:rPr lang="fr-FR" noProof="0" smtClean="0"/>
              <a:t>04/03/2025</a:t>
            </a:fld>
            <a:endParaRPr lang="fr-FR" noProof="0"/>
          </a:p>
        </p:txBody>
      </p:sp>
      <p:sp>
        <p:nvSpPr>
          <p:cNvPr id="4" name="Espace réservé du pied de page 3"/>
          <p:cNvSpPr>
            <a:spLocks noGrp="1"/>
          </p:cNvSpPr>
          <p:nvPr>
            <p:ph type="ftr" sz="quarter" idx="11"/>
          </p:nvPr>
        </p:nvSpPr>
        <p:spPr/>
        <p:txBody>
          <a:bodyPr rtlCol="0"/>
          <a:lstStyle/>
          <a:p>
            <a:pPr rtl="0"/>
            <a:endParaRPr lang="fr-FR" noProof="0"/>
          </a:p>
        </p:txBody>
      </p:sp>
      <p:sp>
        <p:nvSpPr>
          <p:cNvPr id="5" name="Espace réservé du numéro de diapositive 4"/>
          <p:cNvSpPr>
            <a:spLocks noGrp="1"/>
          </p:cNvSpPr>
          <p:nvPr>
            <p:ph type="sldNum" sz="quarter" idx="12"/>
          </p:nvPr>
        </p:nvSpPr>
        <p:spPr/>
        <p:txBody>
          <a:bodyPr rtlCol="0"/>
          <a:lstStyle/>
          <a:p>
            <a:pPr rtl="0"/>
            <a:fld id="{4FAB73BC-B049-4115-A692-8D63A059BFB8}" type="slidenum">
              <a:rPr lang="fr-FR" noProof="0" smtClean="0"/>
              <a:t>‹N°›</a:t>
            </a:fld>
            <a:endParaRPr lang="fr-FR" noProof="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rtlCol="0"/>
          <a:lstStyle/>
          <a:p>
            <a:pPr rtl="0"/>
            <a:fld id="{3278E809-7279-41D4-8D12-46601669AEF8}" type="datetime1">
              <a:rPr lang="fr-FR" noProof="0" smtClean="0"/>
              <a:t>04/03/2025</a:t>
            </a:fld>
            <a:endParaRPr lang="fr-FR" noProof="0"/>
          </a:p>
        </p:txBody>
      </p:sp>
      <p:sp>
        <p:nvSpPr>
          <p:cNvPr id="3" name="Espace réservé du pied de page 2"/>
          <p:cNvSpPr>
            <a:spLocks noGrp="1"/>
          </p:cNvSpPr>
          <p:nvPr>
            <p:ph type="ftr" sz="quarter" idx="11"/>
          </p:nvPr>
        </p:nvSpPr>
        <p:spPr/>
        <p:txBody>
          <a:bodyPr rtlCol="0"/>
          <a:lstStyle/>
          <a:p>
            <a:pPr rtl="0"/>
            <a:endParaRPr lang="fr-FR" noProof="0"/>
          </a:p>
        </p:txBody>
      </p:sp>
      <p:sp>
        <p:nvSpPr>
          <p:cNvPr id="4" name="Espace réservé du numéro de diapositive 3"/>
          <p:cNvSpPr>
            <a:spLocks noGrp="1"/>
          </p:cNvSpPr>
          <p:nvPr>
            <p:ph type="sldNum" sz="quarter" idx="12"/>
          </p:nvPr>
        </p:nvSpPr>
        <p:spPr/>
        <p:txBody>
          <a:bodyPr rtlCol="0"/>
          <a:lstStyle/>
          <a:p>
            <a:pPr rtl="0"/>
            <a:fld id="{4FAB73BC-B049-4115-A692-8D63A059BFB8}" type="slidenum">
              <a:rPr lang="fr-FR" noProof="0" smtClean="0"/>
              <a:t>‹N°›</a:t>
            </a:fld>
            <a:endParaRPr lang="fr-FR" noProof="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8" name="Titre 7"/>
          <p:cNvSpPr>
            <a:spLocks noGrp="1"/>
          </p:cNvSpPr>
          <p:nvPr>
            <p:ph type="title" hasCustomPrompt="1"/>
          </p:nvPr>
        </p:nvSpPr>
        <p:spPr>
          <a:xfrm>
            <a:off x="1024128" y="471509"/>
            <a:ext cx="4389120" cy="1737360"/>
          </a:xfrm>
        </p:spPr>
        <p:txBody>
          <a:bodyPr rtlCol="0">
            <a:noAutofit/>
          </a:bodyPr>
          <a:lstStyle>
            <a:lvl1pPr>
              <a:lnSpc>
                <a:spcPct val="80000"/>
              </a:lnSpc>
              <a:defRPr sz="4000"/>
            </a:lvl1pPr>
          </a:lstStyle>
          <a:p>
            <a:pPr rtl="0"/>
            <a:r>
              <a:rPr lang="fr-FR" noProof="0"/>
              <a:t>Modifiez le style du titre du masque</a:t>
            </a:r>
          </a:p>
        </p:txBody>
      </p:sp>
      <p:sp>
        <p:nvSpPr>
          <p:cNvPr id="3" name="Espace réservé du contenu 2"/>
          <p:cNvSpPr>
            <a:spLocks noGrp="1"/>
          </p:cNvSpPr>
          <p:nvPr>
            <p:ph idx="1" hasCustomPrompt="1"/>
          </p:nvPr>
        </p:nvSpPr>
        <p:spPr>
          <a:xfrm>
            <a:off x="5715000" y="822960"/>
            <a:ext cx="5678424" cy="5184648"/>
          </a:xfrm>
        </p:spPr>
        <p:txBody>
          <a:bodyPr rtlCol="0"/>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u texte 3"/>
          <p:cNvSpPr>
            <a:spLocks noGrp="1"/>
          </p:cNvSpPr>
          <p:nvPr>
            <p:ph type="body" sz="half" idx="2" hasCustomPrompt="1"/>
          </p:nvPr>
        </p:nvSpPr>
        <p:spPr>
          <a:xfrm>
            <a:off x="1024128" y="2257506"/>
            <a:ext cx="4389120" cy="3762294"/>
          </a:xfrm>
        </p:spPr>
        <p:txBody>
          <a:bodyPr lIns="91440" rIns="91440" rtlCol="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fr-FR" noProof="0"/>
              <a:t>Modifiez les styles du texte du masque</a:t>
            </a:r>
          </a:p>
        </p:txBody>
      </p:sp>
      <p:sp>
        <p:nvSpPr>
          <p:cNvPr id="5" name="Espace réservé de la date 4"/>
          <p:cNvSpPr>
            <a:spLocks noGrp="1"/>
          </p:cNvSpPr>
          <p:nvPr>
            <p:ph type="dt" sz="half" idx="10"/>
          </p:nvPr>
        </p:nvSpPr>
        <p:spPr/>
        <p:txBody>
          <a:bodyPr rtlCol="0"/>
          <a:lstStyle/>
          <a:p>
            <a:pPr rtl="0"/>
            <a:fld id="{7EE15B8F-B91C-47AC-B98D-C114892A6229}" type="datetime1">
              <a:rPr lang="fr-FR" noProof="0" smtClean="0"/>
              <a:t>04/03/2025</a:t>
            </a:fld>
            <a:endParaRPr lang="fr-FR" noProof="0"/>
          </a:p>
        </p:txBody>
      </p:sp>
      <p:sp>
        <p:nvSpPr>
          <p:cNvPr id="6" name="Espace réservé du pied de page 5"/>
          <p:cNvSpPr>
            <a:spLocks noGrp="1"/>
          </p:cNvSpPr>
          <p:nvPr>
            <p:ph type="ftr" sz="quarter" idx="11"/>
          </p:nvPr>
        </p:nvSpPr>
        <p:spPr/>
        <p:txBody>
          <a:bodyPr rtlCol="0"/>
          <a:lstStyle/>
          <a:p>
            <a:pPr rtl="0"/>
            <a:endParaRPr lang="fr-FR" noProof="0"/>
          </a:p>
        </p:txBody>
      </p:sp>
      <p:sp>
        <p:nvSpPr>
          <p:cNvPr id="7" name="Espace réservé du numéro de diapositive 6"/>
          <p:cNvSpPr>
            <a:spLocks noGrp="1"/>
          </p:cNvSpPr>
          <p:nvPr>
            <p:ph type="sldNum" sz="quarter" idx="12"/>
          </p:nvPr>
        </p:nvSpPr>
        <p:spPr/>
        <p:txBody>
          <a:bodyPr rtlCol="0"/>
          <a:lstStyle/>
          <a:p>
            <a:pPr rtl="0"/>
            <a:fld id="{4FAB73BC-B049-4115-A692-8D63A059BFB8}" type="slidenum">
              <a:rPr lang="fr-FR" noProof="0" smtClean="0"/>
              <a:t>‹N°›</a:t>
            </a:fld>
            <a:endParaRPr lang="fr-FR" noProof="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4960138"/>
            <a:ext cx="7772400" cy="1463040"/>
          </a:xfrm>
        </p:spPr>
        <p:txBody>
          <a:bodyPr rtlCol="0" anchor="ctr">
            <a:normAutofit/>
          </a:bodyPr>
          <a:lstStyle>
            <a:lvl1pPr algn="r">
              <a:defRPr sz="5000" spc="200" baseline="0"/>
            </a:lvl1pPr>
          </a:lstStyle>
          <a:p>
            <a:pPr rtl="0"/>
            <a:r>
              <a:rPr lang="fr-FR" noProof="0"/>
              <a:t>Modifiez le style du titre</a:t>
            </a:r>
          </a:p>
        </p:txBody>
      </p:sp>
      <p:sp>
        <p:nvSpPr>
          <p:cNvPr id="3" name="Espace réservé d’image 2"/>
          <p:cNvSpPr>
            <a:spLocks noGrp="1" noChangeAspect="1"/>
          </p:cNvSpPr>
          <p:nvPr>
            <p:ph type="pic" idx="1" hasCustomPrompt="1"/>
          </p:nvPr>
        </p:nvSpPr>
        <p:spPr>
          <a:xfrm>
            <a:off x="0" y="-1"/>
            <a:ext cx="12188952" cy="4572000"/>
          </a:xfrm>
          <a:solidFill>
            <a:schemeClr val="accent1">
              <a:lumMod val="60000"/>
              <a:lumOff val="40000"/>
            </a:schemeClr>
          </a:solidFill>
        </p:spPr>
        <p:txBody>
          <a:bodyPr lIns="457200" tIns="365760" rIns="45720" bIns="45720" rtlCol="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FR" noProof="0"/>
              <a:t>Cliquez sur l’icône pour ajouter une image</a:t>
            </a:r>
          </a:p>
        </p:txBody>
      </p:sp>
      <p:sp>
        <p:nvSpPr>
          <p:cNvPr id="4" name="Espace réservé du texte 3"/>
          <p:cNvSpPr>
            <a:spLocks noGrp="1"/>
          </p:cNvSpPr>
          <p:nvPr>
            <p:ph type="body" sz="half" idx="2" hasCustomPrompt="1"/>
          </p:nvPr>
        </p:nvSpPr>
        <p:spPr>
          <a:xfrm>
            <a:off x="8610600" y="4960138"/>
            <a:ext cx="3200400" cy="1463040"/>
          </a:xfrm>
        </p:spPr>
        <p:txBody>
          <a:bodyPr lIns="91440" rIns="91440" rtlCol="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FR" noProof="0" dirty="0"/>
              <a:t>Modifiez les styles du texte du masque</a:t>
            </a:r>
          </a:p>
        </p:txBody>
      </p:sp>
      <p:sp>
        <p:nvSpPr>
          <p:cNvPr id="5" name="Espace réservé de la date 4"/>
          <p:cNvSpPr>
            <a:spLocks noGrp="1"/>
          </p:cNvSpPr>
          <p:nvPr>
            <p:ph type="dt" sz="half" idx="10"/>
          </p:nvPr>
        </p:nvSpPr>
        <p:spPr/>
        <p:txBody>
          <a:bodyPr rtlCol="0"/>
          <a:lstStyle/>
          <a:p>
            <a:pPr rtl="0"/>
            <a:fld id="{92769C86-3347-4673-9EED-DCA59A1E5DED}" type="datetime1">
              <a:rPr lang="fr-FR" noProof="0" smtClean="0"/>
              <a:t>04/03/2025</a:t>
            </a:fld>
            <a:endParaRPr lang="fr-FR" noProof="0"/>
          </a:p>
        </p:txBody>
      </p:sp>
      <p:sp>
        <p:nvSpPr>
          <p:cNvPr id="6" name="Espace réservé du pied de page 5"/>
          <p:cNvSpPr>
            <a:spLocks noGrp="1"/>
          </p:cNvSpPr>
          <p:nvPr>
            <p:ph type="ftr" sz="quarter" idx="11"/>
          </p:nvPr>
        </p:nvSpPr>
        <p:spPr/>
        <p:txBody>
          <a:bodyPr rtlCol="0"/>
          <a:lstStyle/>
          <a:p>
            <a:pPr rtl="0"/>
            <a:endParaRPr lang="fr-FR" noProof="0"/>
          </a:p>
        </p:txBody>
      </p:sp>
      <p:sp>
        <p:nvSpPr>
          <p:cNvPr id="7" name="Espace réservé du numéro de diapositive 6"/>
          <p:cNvSpPr>
            <a:spLocks noGrp="1"/>
          </p:cNvSpPr>
          <p:nvPr>
            <p:ph type="sldNum" sz="quarter" idx="12"/>
          </p:nvPr>
        </p:nvSpPr>
        <p:spPr/>
        <p:txBody>
          <a:bodyPr rtlCol="0"/>
          <a:lstStyle/>
          <a:p>
            <a:pPr rtl="0"/>
            <a:fld id="{867E5644-1E61-4311-A31E-84CB9C7AA8A9}" type="slidenum">
              <a:rPr lang="fr-FR" noProof="0" smtClean="0"/>
              <a:t>‹N°›</a:t>
            </a:fld>
            <a:endParaRPr lang="fr-FR" noProof="0"/>
          </a:p>
        </p:txBody>
      </p:sp>
      <p:cxnSp>
        <p:nvCxnSpPr>
          <p:cNvPr id="8" name="Connecteur droit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noProof="0"/>
              <a:t>Modifiez le style du titre</a:t>
            </a:r>
          </a:p>
        </p:txBody>
      </p:sp>
      <p:sp>
        <p:nvSpPr>
          <p:cNvPr id="3" name="Espace réservé du texte vertical 2"/>
          <p:cNvSpPr>
            <a:spLocks noGrp="1"/>
          </p:cNvSpPr>
          <p:nvPr>
            <p:ph type="body" orient="vert" idx="1" hasCustomPrompt="1"/>
          </p:nvPr>
        </p:nvSpPr>
        <p:spPr/>
        <p:txBody>
          <a:bodyPr vert="eaVert"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p:cNvSpPr>
            <a:spLocks noGrp="1"/>
          </p:cNvSpPr>
          <p:nvPr>
            <p:ph type="dt" sz="half" idx="10"/>
          </p:nvPr>
        </p:nvSpPr>
        <p:spPr/>
        <p:txBody>
          <a:bodyPr rtlCol="0"/>
          <a:lstStyle/>
          <a:p>
            <a:pPr rtl="0"/>
            <a:fld id="{721F1C99-0FCE-4E24-B45E-A6B8B87EE97A}" type="datetime1">
              <a:rPr lang="fr-FR" noProof="0" smtClean="0"/>
              <a:t>04/03/2025</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p:txBody>
          <a:bodyPr rtlCol="0"/>
          <a:lstStyle/>
          <a:p>
            <a:pPr rtl="0"/>
            <a:fld id="{4FAB73BC-B049-4115-A692-8D63A059BFB8}" type="slidenum">
              <a:rPr lang="fr-FR" noProof="0" smtClean="0"/>
              <a:t>‹N°›</a:t>
            </a:fld>
            <a:endParaRPr lang="fr-FR" noProof="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hasCustomPrompt="1"/>
          </p:nvPr>
        </p:nvSpPr>
        <p:spPr>
          <a:xfrm>
            <a:off x="8724901" y="762000"/>
            <a:ext cx="2628900" cy="5410200"/>
          </a:xfrm>
        </p:spPr>
        <p:txBody>
          <a:bodyPr vert="eaVert" lIns="45720" tIns="91440" rIns="45720" bIns="91440" rtlCol="0"/>
          <a:lstStyle/>
          <a:p>
            <a:pPr rtl="0"/>
            <a:r>
              <a:rPr lang="fr-FR" noProof="0"/>
              <a:t>Cliquez pour modifier le style du titre</a:t>
            </a:r>
          </a:p>
        </p:txBody>
      </p:sp>
      <p:sp>
        <p:nvSpPr>
          <p:cNvPr id="3" name="Espace réservé du texte vertical 2"/>
          <p:cNvSpPr>
            <a:spLocks noGrp="1"/>
          </p:cNvSpPr>
          <p:nvPr>
            <p:ph type="body" orient="vert" idx="1" hasCustomPrompt="1"/>
          </p:nvPr>
        </p:nvSpPr>
        <p:spPr>
          <a:xfrm>
            <a:off x="990601" y="762000"/>
            <a:ext cx="7581900" cy="5410200"/>
          </a:xfrm>
        </p:spPr>
        <p:txBody>
          <a:bodyPr vert="eaVert"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p:cNvSpPr>
            <a:spLocks noGrp="1"/>
          </p:cNvSpPr>
          <p:nvPr>
            <p:ph type="dt" sz="half" idx="10"/>
          </p:nvPr>
        </p:nvSpPr>
        <p:spPr/>
        <p:txBody>
          <a:bodyPr rtlCol="0"/>
          <a:lstStyle/>
          <a:p>
            <a:pPr rtl="0"/>
            <a:fld id="{132C3B24-D805-4A76-8E65-C9738296B930}" type="datetime1">
              <a:rPr lang="fr-FR" noProof="0" smtClean="0"/>
              <a:t>04/03/2025</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p:txBody>
          <a:bodyPr rtlCol="0"/>
          <a:lstStyle/>
          <a:p>
            <a:pPr rtl="0"/>
            <a:fld id="{4FAB73BC-B049-4115-A692-8D63A059BFB8}" type="slidenum">
              <a:rPr lang="fr-FR" noProof="0" smtClean="0"/>
              <a:t>‹N°›</a:t>
            </a:fld>
            <a:endParaRPr lang="fr-FR" noProof="0"/>
          </a:p>
        </p:txBody>
      </p:sp>
      <p:cxnSp>
        <p:nvCxnSpPr>
          <p:cNvPr id="7" name="Connecteur droit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pPr rtl="0"/>
            <a:r>
              <a:rPr lang="fr-FR" noProof="0"/>
              <a:t>Modifiez le style du titre</a:t>
            </a:r>
          </a:p>
        </p:txBody>
      </p:sp>
      <p:sp>
        <p:nvSpPr>
          <p:cNvPr id="3" name="Espace réservé du texte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rtl="0"/>
            <a:fld id="{87726DE0-7F70-4976-999D-381380B45882}" type="datetime1">
              <a:rPr lang="fr-FR" noProof="0" smtClean="0"/>
              <a:t>04/03/2025</a:t>
            </a:fld>
            <a:endParaRPr lang="fr-FR" noProof="0"/>
          </a:p>
        </p:txBody>
      </p:sp>
      <p:sp>
        <p:nvSpPr>
          <p:cNvPr id="5" name="Espace réservé du pied de page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pPr rtl="0"/>
            <a:endParaRPr lang="fr-FR" noProof="0"/>
          </a:p>
        </p:txBody>
      </p:sp>
      <p:sp>
        <p:nvSpPr>
          <p:cNvPr id="6" name="Espace réservé du numéro de diapositive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rtl="0"/>
            <a:fld id="{4FAB73BC-B049-4115-A692-8D63A059BFB8}" type="slidenum">
              <a:rPr lang="fr-FR" noProof="0" smtClean="0"/>
              <a:pPr rtl="0"/>
              <a:t>‹N°›</a:t>
            </a:fld>
            <a:endParaRPr lang="fr-FR" noProof="0"/>
          </a:p>
        </p:txBody>
      </p:sp>
      <p:cxnSp>
        <p:nvCxnSpPr>
          <p:cNvPr id="7" name="Connecteur droit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hyperlink" Target="https://plantuml.com/fr/component-diagram" TargetMode="External"/><Relationship Id="rId3" Type="http://schemas.openxmlformats.org/officeDocument/2006/relationships/hyperlink" Target="https://plantuml.com/fr/sequence-diagram" TargetMode="External"/><Relationship Id="rId7" Type="http://schemas.openxmlformats.org/officeDocument/2006/relationships/hyperlink" Target="https://plantuml.com/fr/activity-diagram-beta" TargetMode="External"/><Relationship Id="rId12"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https://plantuml.com/fr/object-diagram" TargetMode="External"/><Relationship Id="rId11" Type="http://schemas.openxmlformats.org/officeDocument/2006/relationships/hyperlink" Target="https://plantuml.com/fr/timing-diagram" TargetMode="External"/><Relationship Id="rId5" Type="http://schemas.openxmlformats.org/officeDocument/2006/relationships/hyperlink" Target="https://plantuml.com/fr/class-diagram" TargetMode="External"/><Relationship Id="rId10" Type="http://schemas.openxmlformats.org/officeDocument/2006/relationships/hyperlink" Target="https://plantuml.com/fr/state-diagram" TargetMode="External"/><Relationship Id="rId4" Type="http://schemas.openxmlformats.org/officeDocument/2006/relationships/hyperlink" Target="https://plantuml.com/fr/use-case-diagram" TargetMode="External"/><Relationship Id="rId9" Type="http://schemas.openxmlformats.org/officeDocument/2006/relationships/hyperlink" Target="https://plantuml.com/fr/deployment-diagram"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9.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pic>
        <p:nvPicPr>
          <p:cNvPr id="6" name="Image 5" descr="Une image contenant nuage, éclair, ciel, Tonnerre&#10;&#10;Le contenu généré par l’IA peut être incorrect.">
            <a:extLst>
              <a:ext uri="{FF2B5EF4-FFF2-40B4-BE49-F238E27FC236}">
                <a16:creationId xmlns:a16="http://schemas.microsoft.com/office/drawing/2014/main" id="{3CD90CCD-F0F1-5134-FB2F-5835B6C7AC75}"/>
              </a:ext>
            </a:extLst>
          </p:cNvPr>
          <p:cNvPicPr>
            <a:picLocks noChangeAspect="1"/>
          </p:cNvPicPr>
          <p:nvPr/>
        </p:nvPicPr>
        <p:blipFill>
          <a:blip r:embed="rId3"/>
          <a:stretch>
            <a:fillRect/>
          </a:stretch>
        </p:blipFill>
        <p:spPr>
          <a:xfrm>
            <a:off x="0" y="0"/>
            <a:ext cx="12195274" cy="6858000"/>
          </a:xfrm>
          <a:prstGeom prst="rect">
            <a:avLst/>
          </a:prstGeom>
        </p:spPr>
      </p:pic>
      <p:sp>
        <p:nvSpPr>
          <p:cNvPr id="21" name="Rectangle 20">
            <a:extLst>
              <a:ext uri="{FF2B5EF4-FFF2-40B4-BE49-F238E27FC236}">
                <a16:creationId xmlns:a16="http://schemas.microsoft.com/office/drawing/2014/main" id="{EAA48FC5-3C83-4F1B-BC33-DF0B588F8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rtl="0"/>
            <a:endParaRPr lang="fr-FR"/>
          </a:p>
        </p:txBody>
      </p:sp>
      <p:sp>
        <p:nvSpPr>
          <p:cNvPr id="2" name="Titre 1">
            <a:extLst>
              <a:ext uri="{FF2B5EF4-FFF2-40B4-BE49-F238E27FC236}">
                <a16:creationId xmlns:a16="http://schemas.microsoft.com/office/drawing/2014/main" id="{DE3D84FB-5D02-47D2-98FD-4F01A02E2AEA}"/>
              </a:ext>
            </a:extLst>
          </p:cNvPr>
          <p:cNvSpPr>
            <a:spLocks noGrp="1"/>
          </p:cNvSpPr>
          <p:nvPr>
            <p:ph type="ctrTitle"/>
          </p:nvPr>
        </p:nvSpPr>
        <p:spPr>
          <a:xfrm>
            <a:off x="3893513" y="3429000"/>
            <a:ext cx="8295214" cy="1090938"/>
          </a:xfrm>
        </p:spPr>
        <p:txBody>
          <a:bodyPr rtlCol="0" anchor="b">
            <a:normAutofit fontScale="90000"/>
          </a:bodyPr>
          <a:lstStyle/>
          <a:p>
            <a:pPr algn="l"/>
            <a:r>
              <a:rPr lang="fr-FR" b="1" dirty="0">
                <a:solidFill>
                  <a:schemeClr val="bg1"/>
                </a:solidFill>
              </a:rPr>
              <a:t>Application Météo : Votre Assistant Météo Personnel</a:t>
            </a:r>
          </a:p>
        </p:txBody>
      </p:sp>
      <p:sp>
        <p:nvSpPr>
          <p:cNvPr id="3" name="Sous-titre 2">
            <a:extLst>
              <a:ext uri="{FF2B5EF4-FFF2-40B4-BE49-F238E27FC236}">
                <a16:creationId xmlns:a16="http://schemas.microsoft.com/office/drawing/2014/main" id="{E9F6641D-ADF3-40BD-9BA3-E740E77C8826}"/>
              </a:ext>
            </a:extLst>
          </p:cNvPr>
          <p:cNvSpPr>
            <a:spLocks noGrp="1"/>
          </p:cNvSpPr>
          <p:nvPr>
            <p:ph type="subTitle" idx="1"/>
          </p:nvPr>
        </p:nvSpPr>
        <p:spPr>
          <a:xfrm>
            <a:off x="4309349" y="4779313"/>
            <a:ext cx="7501650" cy="514816"/>
          </a:xfrm>
        </p:spPr>
        <p:txBody>
          <a:bodyPr rtlCol="0" anchor="t">
            <a:normAutofit/>
          </a:bodyPr>
          <a:lstStyle/>
          <a:p>
            <a:pPr rtl="0"/>
            <a:r>
              <a:rPr lang="fr-FR" dirty="0">
                <a:solidFill>
                  <a:srgbClr val="FFFFFF"/>
                </a:solidFill>
              </a:rPr>
              <a:t>Par Seb BDX</a:t>
            </a:r>
          </a:p>
        </p:txBody>
      </p:sp>
      <p:cxnSp>
        <p:nvCxnSpPr>
          <p:cNvPr id="23" name="Connecteur droit 22">
            <a:extLst>
              <a:ext uri="{FF2B5EF4-FFF2-40B4-BE49-F238E27FC236}">
                <a16:creationId xmlns:a16="http://schemas.microsoft.com/office/drawing/2014/main" id="{62F01714-1A39-4194-BD47-8A9960C599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09349" y="4666480"/>
            <a:ext cx="6832499" cy="0"/>
          </a:xfrm>
          <a:prstGeom prst="line">
            <a:avLst/>
          </a:prstGeom>
          <a:ln w="22225">
            <a:solidFill>
              <a:srgbClr val="4AC4E3"/>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06257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B34748C-430B-3D91-9E39-C74654607478}"/>
              </a:ext>
            </a:extLst>
          </p:cNvPr>
          <p:cNvSpPr>
            <a:spLocks noGrp="1"/>
          </p:cNvSpPr>
          <p:nvPr>
            <p:ph idx="1"/>
          </p:nvPr>
        </p:nvSpPr>
        <p:spPr>
          <a:xfrm>
            <a:off x="1024128" y="914400"/>
            <a:ext cx="9720073" cy="5394960"/>
          </a:xfrm>
        </p:spPr>
        <p:txBody>
          <a:bodyPr/>
          <a:lstStyle/>
          <a:p>
            <a:pPr algn="ctr"/>
            <a:r>
              <a:rPr lang="fr-FR" sz="3200" dirty="0">
                <a:effectLst/>
              </a:rPr>
              <a:t>Cette application est conçue pour fournir des prévisions météorologiques basées sur des commandes vocales ou saisies manuellement. Elle repose sur plusieurs API et outils pour traiter les requêtes, surveiller son propre fonctionnement et stocker les données utilisateur de manière sécurisée.</a:t>
            </a:r>
          </a:p>
          <a:p>
            <a:pPr algn="ctr"/>
            <a:endParaRPr lang="fr-FR" sz="3200" dirty="0">
              <a:effectLst/>
            </a:endParaRPr>
          </a:p>
          <a:p>
            <a:pPr algn="ctr"/>
            <a:r>
              <a:rPr lang="fr-FR" dirty="0">
                <a:effectLst/>
              </a:rPr>
              <a:t>Elle est développée avec </a:t>
            </a:r>
            <a:r>
              <a:rPr lang="fr-FR" b="1" dirty="0" err="1">
                <a:effectLst/>
              </a:rPr>
              <a:t>FastAPI</a:t>
            </a:r>
            <a:r>
              <a:rPr lang="fr-FR" dirty="0">
                <a:effectLst/>
              </a:rPr>
              <a:t> pour le backend, </a:t>
            </a:r>
            <a:r>
              <a:rPr lang="fr-FR" b="1" dirty="0" err="1">
                <a:effectLst/>
              </a:rPr>
              <a:t>Streamlit</a:t>
            </a:r>
            <a:r>
              <a:rPr lang="fr-FR" dirty="0">
                <a:effectLst/>
              </a:rPr>
              <a:t> pour l'interface utilisateur, et utilise </a:t>
            </a:r>
            <a:r>
              <a:rPr lang="fr-FR" b="1" dirty="0" err="1">
                <a:effectLst/>
              </a:rPr>
              <a:t>Prometheus</a:t>
            </a:r>
            <a:r>
              <a:rPr lang="fr-FR" dirty="0">
                <a:effectLst/>
              </a:rPr>
              <a:t> pour la surveillance et la collecte de métriques.</a:t>
            </a:r>
          </a:p>
          <a:p>
            <a:endParaRPr lang="fr-FR" dirty="0"/>
          </a:p>
        </p:txBody>
      </p:sp>
    </p:spTree>
    <p:extLst>
      <p:ext uri="{BB962C8B-B14F-4D97-AF65-F5344CB8AC3E}">
        <p14:creationId xmlns:p14="http://schemas.microsoft.com/office/powerpoint/2010/main" val="31228851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4919D0-F177-4BBA-9A0B-DBA69E2ED764}"/>
              </a:ext>
            </a:extLst>
          </p:cNvPr>
          <p:cNvSpPr>
            <a:spLocks noGrp="1"/>
          </p:cNvSpPr>
          <p:nvPr>
            <p:ph type="title"/>
          </p:nvPr>
        </p:nvSpPr>
        <p:spPr>
          <a:xfrm>
            <a:off x="1024128" y="585216"/>
            <a:ext cx="9720072" cy="1499616"/>
          </a:xfrm>
        </p:spPr>
        <p:txBody>
          <a:bodyPr rtlCol="0">
            <a:normAutofit/>
          </a:bodyPr>
          <a:lstStyle/>
          <a:p>
            <a:r>
              <a:rPr lang="fr-FR" dirty="0"/>
              <a:t>PLANNING:</a:t>
            </a:r>
          </a:p>
        </p:txBody>
      </p:sp>
      <p:pic>
        <p:nvPicPr>
          <p:cNvPr id="8" name="Image 7" descr="Une image contenant texte, capture d’écran, diagramme, ligne">
            <a:extLst>
              <a:ext uri="{FF2B5EF4-FFF2-40B4-BE49-F238E27FC236}">
                <a16:creationId xmlns:a16="http://schemas.microsoft.com/office/drawing/2014/main" id="{945AD7EE-2159-7F1B-5BDC-7C585CFB6916}"/>
              </a:ext>
            </a:extLst>
          </p:cNvPr>
          <p:cNvPicPr>
            <a:picLocks noChangeAspect="1"/>
          </p:cNvPicPr>
          <p:nvPr/>
        </p:nvPicPr>
        <p:blipFill>
          <a:blip r:embed="rId3"/>
          <a:stretch>
            <a:fillRect/>
          </a:stretch>
        </p:blipFill>
        <p:spPr>
          <a:xfrm>
            <a:off x="1233668" y="1856989"/>
            <a:ext cx="9724663" cy="4302261"/>
          </a:xfrm>
          <a:prstGeom prst="rect">
            <a:avLst/>
          </a:prstGeom>
        </p:spPr>
      </p:pic>
    </p:spTree>
    <p:extLst>
      <p:ext uri="{BB962C8B-B14F-4D97-AF65-F5344CB8AC3E}">
        <p14:creationId xmlns:p14="http://schemas.microsoft.com/office/powerpoint/2010/main" val="1401741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829789C9-6E41-7A27-1A2D-0D6BAA9378BF}"/>
              </a:ext>
            </a:extLst>
          </p:cNvPr>
          <p:cNvPicPr>
            <a:picLocks noChangeAspect="1"/>
          </p:cNvPicPr>
          <p:nvPr/>
        </p:nvPicPr>
        <p:blipFill>
          <a:blip r:embed="rId3"/>
          <a:stretch>
            <a:fillRect/>
          </a:stretch>
        </p:blipFill>
        <p:spPr>
          <a:xfrm>
            <a:off x="1460974" y="68263"/>
            <a:ext cx="10032051" cy="6721475"/>
          </a:xfrm>
          <a:prstGeom prst="rect">
            <a:avLst/>
          </a:prstGeom>
          <a:noFill/>
        </p:spPr>
      </p:pic>
    </p:spTree>
    <p:extLst>
      <p:ext uri="{BB962C8B-B14F-4D97-AF65-F5344CB8AC3E}">
        <p14:creationId xmlns:p14="http://schemas.microsoft.com/office/powerpoint/2010/main" val="3291363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7CBD6EB-EEE9-917F-5465-BB05590CB214}"/>
              </a:ext>
            </a:extLst>
          </p:cNvPr>
          <p:cNvSpPr>
            <a:spLocks noGrp="1"/>
          </p:cNvSpPr>
          <p:nvPr>
            <p:ph idx="1"/>
          </p:nvPr>
        </p:nvSpPr>
        <p:spPr>
          <a:xfrm>
            <a:off x="1024128" y="1918252"/>
            <a:ext cx="9720073" cy="4599830"/>
          </a:xfrm>
        </p:spPr>
        <p:txBody>
          <a:bodyPr>
            <a:normAutofit fontScale="92500" lnSpcReduction="10000"/>
          </a:bodyPr>
          <a:lstStyle/>
          <a:p>
            <a:r>
              <a:rPr lang="fr-FR" dirty="0" err="1"/>
              <a:t>PlantUML</a:t>
            </a:r>
            <a:r>
              <a:rPr lang="fr-FR" dirty="0"/>
              <a:t> est un outil open source conçu pour générer des diagrammes de modélisation à partir d'un langage de description textuel simple et expressif :</a:t>
            </a:r>
          </a:p>
          <a:p>
            <a:pPr>
              <a:buFont typeface="Arial" panose="020B0604020202020204" pitchFamily="34" charset="0"/>
              <a:buChar char="•"/>
            </a:pPr>
            <a:r>
              <a:rPr lang="fr-FR" dirty="0">
                <a:hlinkClick r:id="rId3"/>
              </a:rPr>
              <a:t>Diagramme de séquence</a:t>
            </a:r>
            <a:endParaRPr lang="fr-FR" dirty="0"/>
          </a:p>
          <a:p>
            <a:pPr>
              <a:buFont typeface="Arial" panose="020B0604020202020204" pitchFamily="34" charset="0"/>
              <a:buChar char="•"/>
            </a:pPr>
            <a:r>
              <a:rPr lang="fr-FR" dirty="0">
                <a:hlinkClick r:id="rId4"/>
              </a:rPr>
              <a:t>Diagramme de cas d'utilisation</a:t>
            </a:r>
            <a:endParaRPr lang="fr-FR" dirty="0"/>
          </a:p>
          <a:p>
            <a:pPr>
              <a:buFont typeface="Arial" panose="020B0604020202020204" pitchFamily="34" charset="0"/>
              <a:buChar char="•"/>
            </a:pPr>
            <a:r>
              <a:rPr lang="fr-FR" dirty="0">
                <a:hlinkClick r:id="rId5"/>
              </a:rPr>
              <a:t>Diagramme de classe</a:t>
            </a:r>
            <a:endParaRPr lang="fr-FR" dirty="0"/>
          </a:p>
          <a:p>
            <a:pPr>
              <a:buFont typeface="Arial" panose="020B0604020202020204" pitchFamily="34" charset="0"/>
              <a:buChar char="•"/>
            </a:pPr>
            <a:r>
              <a:rPr lang="fr-FR" dirty="0">
                <a:hlinkClick r:id="rId6"/>
              </a:rPr>
              <a:t>Diagramme d'objets</a:t>
            </a:r>
            <a:endParaRPr lang="fr-FR" dirty="0"/>
          </a:p>
          <a:p>
            <a:pPr>
              <a:buFont typeface="Arial" panose="020B0604020202020204" pitchFamily="34" charset="0"/>
              <a:buChar char="•"/>
            </a:pPr>
            <a:r>
              <a:rPr lang="fr-FR" dirty="0">
                <a:hlinkClick r:id="rId7"/>
              </a:rPr>
              <a:t>Diagramme d'activité</a:t>
            </a:r>
            <a:r>
              <a:rPr lang="fr-FR" dirty="0"/>
              <a:t> </a:t>
            </a:r>
            <a:endParaRPr lang="fr-FR" i="1" dirty="0"/>
          </a:p>
          <a:p>
            <a:pPr>
              <a:buFont typeface="Arial" panose="020B0604020202020204" pitchFamily="34" charset="0"/>
              <a:buChar char="•"/>
            </a:pPr>
            <a:r>
              <a:rPr lang="fr-FR" dirty="0">
                <a:hlinkClick r:id="rId8"/>
              </a:rPr>
              <a:t>Diagramme de composants</a:t>
            </a:r>
            <a:endParaRPr lang="fr-FR" dirty="0"/>
          </a:p>
          <a:p>
            <a:pPr>
              <a:buFont typeface="Arial" panose="020B0604020202020204" pitchFamily="34" charset="0"/>
              <a:buChar char="•"/>
            </a:pPr>
            <a:r>
              <a:rPr lang="fr-FR" dirty="0">
                <a:hlinkClick r:id="rId9"/>
              </a:rPr>
              <a:t>Diagramme de déploiement</a:t>
            </a:r>
            <a:endParaRPr lang="fr-FR" dirty="0"/>
          </a:p>
          <a:p>
            <a:pPr>
              <a:buFont typeface="Arial" panose="020B0604020202020204" pitchFamily="34" charset="0"/>
              <a:buChar char="•"/>
            </a:pPr>
            <a:r>
              <a:rPr lang="fr-FR" dirty="0">
                <a:hlinkClick r:id="rId10"/>
              </a:rPr>
              <a:t>Diagramme d'état</a:t>
            </a:r>
            <a:endParaRPr lang="fr-FR" dirty="0"/>
          </a:p>
          <a:p>
            <a:pPr>
              <a:buFont typeface="Arial" panose="020B0604020202020204" pitchFamily="34" charset="0"/>
              <a:buChar char="•"/>
            </a:pPr>
            <a:r>
              <a:rPr lang="fr-FR" dirty="0">
                <a:hlinkClick r:id="rId11"/>
              </a:rPr>
              <a:t>Diagramme de temps</a:t>
            </a:r>
            <a:endParaRPr lang="fr-FR" dirty="0"/>
          </a:p>
          <a:p>
            <a:endParaRPr lang="fr-FR" dirty="0"/>
          </a:p>
        </p:txBody>
      </p:sp>
      <p:pic>
        <p:nvPicPr>
          <p:cNvPr id="5" name="Image 4">
            <a:extLst>
              <a:ext uri="{FF2B5EF4-FFF2-40B4-BE49-F238E27FC236}">
                <a16:creationId xmlns:a16="http://schemas.microsoft.com/office/drawing/2014/main" id="{73F5E3A2-4413-9D1C-849A-1B7C4E485E31}"/>
              </a:ext>
            </a:extLst>
          </p:cNvPr>
          <p:cNvPicPr>
            <a:picLocks noChangeAspect="1"/>
          </p:cNvPicPr>
          <p:nvPr/>
        </p:nvPicPr>
        <p:blipFill>
          <a:blip r:embed="rId12"/>
          <a:stretch>
            <a:fillRect/>
          </a:stretch>
        </p:blipFill>
        <p:spPr>
          <a:xfrm>
            <a:off x="1024128" y="723218"/>
            <a:ext cx="9447962" cy="896860"/>
          </a:xfrm>
          <a:prstGeom prst="rect">
            <a:avLst/>
          </a:prstGeom>
        </p:spPr>
      </p:pic>
    </p:spTree>
    <p:extLst>
      <p:ext uri="{BB962C8B-B14F-4D97-AF65-F5344CB8AC3E}">
        <p14:creationId xmlns:p14="http://schemas.microsoft.com/office/powerpoint/2010/main" val="1820508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9997E6-381F-CD31-3D7F-6AA76C70AFAD}"/>
              </a:ext>
            </a:extLst>
          </p:cNvPr>
          <p:cNvSpPr>
            <a:spLocks noGrp="1"/>
          </p:cNvSpPr>
          <p:nvPr>
            <p:ph type="title"/>
          </p:nvPr>
        </p:nvSpPr>
        <p:spPr>
          <a:xfrm>
            <a:off x="1024128" y="585216"/>
            <a:ext cx="9720072" cy="805434"/>
          </a:xfrm>
        </p:spPr>
        <p:txBody>
          <a:bodyPr/>
          <a:lstStyle/>
          <a:p>
            <a:r>
              <a:rPr lang="fr-FR" dirty="0" err="1"/>
              <a:t>FastAPI</a:t>
            </a:r>
            <a:r>
              <a:rPr lang="fr-FR" dirty="0"/>
              <a:t> pour le Backend</a:t>
            </a:r>
          </a:p>
        </p:txBody>
      </p:sp>
      <p:sp>
        <p:nvSpPr>
          <p:cNvPr id="3" name="Espace réservé du contenu 2">
            <a:extLst>
              <a:ext uri="{FF2B5EF4-FFF2-40B4-BE49-F238E27FC236}">
                <a16:creationId xmlns:a16="http://schemas.microsoft.com/office/drawing/2014/main" id="{F02FC09B-A590-E01D-DC60-54459A761BD6}"/>
              </a:ext>
            </a:extLst>
          </p:cNvPr>
          <p:cNvSpPr>
            <a:spLocks noGrp="1"/>
          </p:cNvSpPr>
          <p:nvPr>
            <p:ph idx="1"/>
          </p:nvPr>
        </p:nvSpPr>
        <p:spPr>
          <a:xfrm>
            <a:off x="1024128" y="2009775"/>
            <a:ext cx="9720073" cy="4299585"/>
          </a:xfrm>
        </p:spPr>
        <p:txBody>
          <a:bodyPr/>
          <a:lstStyle/>
          <a:p>
            <a:r>
              <a:rPr lang="fr-FR" dirty="0"/>
              <a:t>Gestion asynchrone et rapide des requêtes</a:t>
            </a:r>
          </a:p>
          <a:p>
            <a:r>
              <a:rPr lang="fr-FR" dirty="0" err="1"/>
              <a:t>Endpoints</a:t>
            </a:r>
            <a:r>
              <a:rPr lang="fr-FR" dirty="0"/>
              <a:t> principaux :</a:t>
            </a:r>
          </a:p>
          <a:p>
            <a:r>
              <a:rPr lang="fr-FR" dirty="0"/>
              <a:t>POST /</a:t>
            </a:r>
            <a:r>
              <a:rPr lang="fr-FR" dirty="0" err="1"/>
              <a:t>process_command</a:t>
            </a:r>
            <a:r>
              <a:rPr lang="fr-FR" dirty="0"/>
              <a:t> : Analyse et récupère la météo</a:t>
            </a:r>
          </a:p>
          <a:p>
            <a:r>
              <a:rPr lang="fr-FR" dirty="0"/>
              <a:t>GET /</a:t>
            </a:r>
            <a:r>
              <a:rPr lang="fr-FR" dirty="0" err="1"/>
              <a:t>analysis</a:t>
            </a:r>
            <a:r>
              <a:rPr lang="fr-FR" dirty="0"/>
              <a:t> : Statistiques des requêtes</a:t>
            </a:r>
          </a:p>
          <a:p>
            <a:r>
              <a:rPr lang="fr-FR" dirty="0"/>
              <a:t>GET /</a:t>
            </a:r>
            <a:r>
              <a:rPr lang="fr-FR" dirty="0" err="1"/>
              <a:t>metrics</a:t>
            </a:r>
            <a:r>
              <a:rPr lang="fr-FR" dirty="0"/>
              <a:t> : Expose les métriques pour </a:t>
            </a:r>
            <a:r>
              <a:rPr lang="fr-FR" dirty="0" err="1"/>
              <a:t>Prometheus</a:t>
            </a:r>
            <a:endParaRPr lang="fr-FR" dirty="0"/>
          </a:p>
          <a:p>
            <a:r>
              <a:rPr lang="fr-FR" dirty="0"/>
              <a:t>GET /</a:t>
            </a:r>
            <a:r>
              <a:rPr lang="fr-FR" dirty="0" err="1"/>
              <a:t>top_cities</a:t>
            </a:r>
            <a:r>
              <a:rPr lang="fr-FR" dirty="0"/>
              <a:t> : Villes les plus demandées</a:t>
            </a:r>
          </a:p>
          <a:p>
            <a:r>
              <a:rPr lang="fr-FR" dirty="0"/>
              <a:t>POST /feedback : Stocke les retours utilisateurs</a:t>
            </a:r>
          </a:p>
          <a:p>
            <a:endParaRPr lang="fr-FR" dirty="0"/>
          </a:p>
        </p:txBody>
      </p:sp>
    </p:spTree>
    <p:extLst>
      <p:ext uri="{BB962C8B-B14F-4D97-AF65-F5344CB8AC3E}">
        <p14:creationId xmlns:p14="http://schemas.microsoft.com/office/powerpoint/2010/main" val="3319733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8DD5780-45BA-9131-EC32-60BE37FBCC97}"/>
              </a:ext>
            </a:extLst>
          </p:cNvPr>
          <p:cNvSpPr>
            <a:spLocks noGrp="1"/>
          </p:cNvSpPr>
          <p:nvPr>
            <p:ph type="title"/>
          </p:nvPr>
        </p:nvSpPr>
        <p:spPr>
          <a:xfrm>
            <a:off x="1024128" y="585216"/>
            <a:ext cx="10348722" cy="1499616"/>
          </a:xfrm>
        </p:spPr>
        <p:txBody>
          <a:bodyPr>
            <a:normAutofit/>
          </a:bodyPr>
          <a:lstStyle/>
          <a:p>
            <a:r>
              <a:rPr lang="fr-FR" dirty="0"/>
              <a:t>API Open-</a:t>
            </a:r>
            <a:r>
              <a:rPr lang="fr-FR" dirty="0" err="1"/>
              <a:t>Meteo</a:t>
            </a:r>
            <a:r>
              <a:rPr lang="fr-FR" dirty="0"/>
              <a:t> pour les Prévisions</a:t>
            </a:r>
            <a:br>
              <a:rPr lang="fr-FR" dirty="0"/>
            </a:br>
            <a:r>
              <a:rPr lang="fr-FR" sz="3100" dirty="0"/>
              <a:t>fourni des prévisions météorologiques basées sur la localisation.</a:t>
            </a:r>
            <a:endParaRPr lang="fr-FR" dirty="0"/>
          </a:p>
        </p:txBody>
      </p:sp>
      <p:sp>
        <p:nvSpPr>
          <p:cNvPr id="3" name="Espace réservé du contenu 2">
            <a:extLst>
              <a:ext uri="{FF2B5EF4-FFF2-40B4-BE49-F238E27FC236}">
                <a16:creationId xmlns:a16="http://schemas.microsoft.com/office/drawing/2014/main" id="{B8CA420E-E32D-1BAD-FA50-67BF5626C12B}"/>
              </a:ext>
            </a:extLst>
          </p:cNvPr>
          <p:cNvSpPr>
            <a:spLocks noGrp="1"/>
          </p:cNvSpPr>
          <p:nvPr>
            <p:ph idx="1"/>
          </p:nvPr>
        </p:nvSpPr>
        <p:spPr>
          <a:xfrm>
            <a:off x="1024128" y="2943224"/>
            <a:ext cx="9720073" cy="3366135"/>
          </a:xfrm>
        </p:spPr>
        <p:txBody>
          <a:bodyPr/>
          <a:lstStyle/>
          <a:p>
            <a:r>
              <a:rPr lang="fr-FR" dirty="0"/>
              <a:t>Elle renvoie :</a:t>
            </a:r>
          </a:p>
          <a:p>
            <a:r>
              <a:rPr lang="fr-FR" dirty="0"/>
              <a:t>- Température</a:t>
            </a:r>
          </a:p>
          <a:p>
            <a:r>
              <a:rPr lang="fr-FR" dirty="0"/>
              <a:t>- Vitesse du vent</a:t>
            </a:r>
          </a:p>
          <a:p>
            <a:r>
              <a:rPr lang="fr-FR" dirty="0"/>
              <a:t>- Couverture nuageuse</a:t>
            </a:r>
          </a:p>
          <a:p>
            <a:r>
              <a:rPr lang="fr-FR" dirty="0"/>
              <a:t>- Pollution</a:t>
            </a:r>
          </a:p>
          <a:p>
            <a:endParaRPr lang="fr-FR" dirty="0"/>
          </a:p>
        </p:txBody>
      </p:sp>
    </p:spTree>
    <p:extLst>
      <p:ext uri="{BB962C8B-B14F-4D97-AF65-F5344CB8AC3E}">
        <p14:creationId xmlns:p14="http://schemas.microsoft.com/office/powerpoint/2010/main" val="40317588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666E12-05FC-D7A2-30CA-F926CA6A9ACE}"/>
              </a:ext>
            </a:extLst>
          </p:cNvPr>
          <p:cNvSpPr>
            <a:spLocks noGrp="1"/>
          </p:cNvSpPr>
          <p:nvPr>
            <p:ph type="title"/>
          </p:nvPr>
        </p:nvSpPr>
        <p:spPr/>
        <p:txBody>
          <a:bodyPr>
            <a:normAutofit/>
          </a:bodyPr>
          <a:lstStyle/>
          <a:p>
            <a:r>
              <a:rPr lang="fr-FR" dirty="0"/>
              <a:t>API Azure Speech-to-</a:t>
            </a:r>
            <a:r>
              <a:rPr lang="fr-FR" dirty="0" err="1"/>
              <a:t>Text</a:t>
            </a:r>
            <a:r>
              <a:rPr lang="fr-FR" dirty="0"/>
              <a:t> :</a:t>
            </a:r>
            <a:br>
              <a:rPr lang="fr-FR" dirty="0"/>
            </a:br>
            <a:r>
              <a:rPr lang="fr-FR" sz="3100" dirty="0"/>
              <a:t>utilisé pour convertir les commandes vocales en texte</a:t>
            </a:r>
          </a:p>
        </p:txBody>
      </p:sp>
      <p:sp>
        <p:nvSpPr>
          <p:cNvPr id="3" name="Espace réservé du contenu 2">
            <a:extLst>
              <a:ext uri="{FF2B5EF4-FFF2-40B4-BE49-F238E27FC236}">
                <a16:creationId xmlns:a16="http://schemas.microsoft.com/office/drawing/2014/main" id="{BF8FCA65-EF28-4C9F-09AD-39ED6026EA4D}"/>
              </a:ext>
            </a:extLst>
          </p:cNvPr>
          <p:cNvSpPr>
            <a:spLocks noGrp="1"/>
          </p:cNvSpPr>
          <p:nvPr>
            <p:ph idx="1"/>
          </p:nvPr>
        </p:nvSpPr>
        <p:spPr/>
        <p:txBody>
          <a:bodyPr/>
          <a:lstStyle/>
          <a:p>
            <a:endParaRPr lang="fr-FR" dirty="0"/>
          </a:p>
          <a:p>
            <a:endParaRPr lang="fr-FR" dirty="0"/>
          </a:p>
          <a:p>
            <a:r>
              <a:rPr lang="fr-FR" dirty="0"/>
              <a:t>- Traitement des fichiers audio</a:t>
            </a:r>
          </a:p>
          <a:p>
            <a:r>
              <a:rPr lang="fr-FR" dirty="0"/>
              <a:t>- Conversion en texte</a:t>
            </a:r>
          </a:p>
          <a:p>
            <a:r>
              <a:rPr lang="fr-FR" dirty="0"/>
              <a:t>- Analyse avec </a:t>
            </a:r>
            <a:r>
              <a:rPr lang="fr-FR" dirty="0" err="1"/>
              <a:t>spaCy</a:t>
            </a:r>
            <a:endParaRPr lang="fr-FR" dirty="0"/>
          </a:p>
          <a:p>
            <a:endParaRPr lang="fr-FR" dirty="0"/>
          </a:p>
        </p:txBody>
      </p:sp>
    </p:spTree>
    <p:extLst>
      <p:ext uri="{BB962C8B-B14F-4D97-AF65-F5344CB8AC3E}">
        <p14:creationId xmlns:p14="http://schemas.microsoft.com/office/powerpoint/2010/main" val="451527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4C23500-4D0C-696F-A5CB-E690414A14BA}"/>
              </a:ext>
            </a:extLst>
          </p:cNvPr>
          <p:cNvSpPr>
            <a:spLocks noGrp="1"/>
          </p:cNvSpPr>
          <p:nvPr>
            <p:ph type="title"/>
          </p:nvPr>
        </p:nvSpPr>
        <p:spPr>
          <a:xfrm>
            <a:off x="1024127" y="1095375"/>
            <a:ext cx="10301097" cy="1009649"/>
          </a:xfrm>
        </p:spPr>
        <p:txBody>
          <a:bodyPr>
            <a:normAutofit fontScale="90000"/>
          </a:bodyPr>
          <a:lstStyle/>
          <a:p>
            <a:r>
              <a:rPr lang="fr-FR" dirty="0"/>
              <a:t>API </a:t>
            </a:r>
            <a:r>
              <a:rPr lang="fr-FR" dirty="0" err="1"/>
              <a:t>OpenStreetMap</a:t>
            </a:r>
            <a:r>
              <a:rPr lang="fr-FR" dirty="0"/>
              <a:t> pour la Géolocalisation:</a:t>
            </a:r>
            <a:br>
              <a:rPr lang="fr-FR" dirty="0"/>
            </a:br>
            <a:br>
              <a:rPr lang="fr-FR" dirty="0"/>
            </a:br>
            <a:endParaRPr lang="fr-FR" dirty="0"/>
          </a:p>
        </p:txBody>
      </p:sp>
      <p:sp>
        <p:nvSpPr>
          <p:cNvPr id="3" name="Espace réservé du contenu 2">
            <a:extLst>
              <a:ext uri="{FF2B5EF4-FFF2-40B4-BE49-F238E27FC236}">
                <a16:creationId xmlns:a16="http://schemas.microsoft.com/office/drawing/2014/main" id="{110895D2-59EB-5BDC-D35E-8F9F101AD8A8}"/>
              </a:ext>
            </a:extLst>
          </p:cNvPr>
          <p:cNvSpPr>
            <a:spLocks noGrp="1"/>
          </p:cNvSpPr>
          <p:nvPr>
            <p:ph idx="1"/>
          </p:nvPr>
        </p:nvSpPr>
        <p:spPr>
          <a:xfrm>
            <a:off x="1024128" y="2838450"/>
            <a:ext cx="9720073" cy="3470910"/>
          </a:xfrm>
        </p:spPr>
        <p:txBody>
          <a:bodyPr/>
          <a:lstStyle/>
          <a:p>
            <a:r>
              <a:rPr lang="fr-FR" sz="2400" dirty="0"/>
              <a:t>Pour obtenir les coordonnées GPS d’une ville, l’application utilise </a:t>
            </a:r>
            <a:r>
              <a:rPr lang="fr-FR" sz="2400" dirty="0" err="1"/>
              <a:t>Nominatim</a:t>
            </a:r>
            <a:r>
              <a:rPr lang="fr-FR" sz="2400" dirty="0"/>
              <a:t>, un service de géolocalisation basé sur </a:t>
            </a:r>
            <a:r>
              <a:rPr lang="fr-FR" sz="2400" dirty="0" err="1"/>
              <a:t>OpenStreetMap</a:t>
            </a:r>
            <a:r>
              <a:rPr lang="fr-FR" sz="2400" dirty="0"/>
              <a:t>.</a:t>
            </a:r>
          </a:p>
          <a:p>
            <a:endParaRPr lang="fr-FR" sz="2400" dirty="0"/>
          </a:p>
          <a:p>
            <a:r>
              <a:rPr lang="fr-FR" dirty="0" err="1"/>
              <a:t>Nominatim</a:t>
            </a:r>
            <a:r>
              <a:rPr lang="fr-FR" dirty="0"/>
              <a:t> (du latin, 'par nom') est un outil pour la recherche de données OSM par nom et </a:t>
            </a:r>
            <a:r>
              <a:rPr lang="fr-FR" dirty="0" err="1"/>
              <a:t>et</a:t>
            </a:r>
            <a:r>
              <a:rPr lang="fr-FR" dirty="0"/>
              <a:t> générer des adresses synthétiques de points OSM (</a:t>
            </a:r>
            <a:r>
              <a:rPr lang="fr-FR" dirty="0" err="1"/>
              <a:t>géodification</a:t>
            </a:r>
            <a:r>
              <a:rPr lang="fr-FR" dirty="0"/>
              <a:t> inverse). Il a également une capacité limitée à rechercher des fonctionnalités par leur type. (pubs, hôtels, églises, etc.).</a:t>
            </a:r>
          </a:p>
        </p:txBody>
      </p:sp>
    </p:spTree>
    <p:extLst>
      <p:ext uri="{BB962C8B-B14F-4D97-AF65-F5344CB8AC3E}">
        <p14:creationId xmlns:p14="http://schemas.microsoft.com/office/powerpoint/2010/main" val="35443054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236685-32D6-B0BE-646C-8155BD3F3270}"/>
              </a:ext>
            </a:extLst>
          </p:cNvPr>
          <p:cNvSpPr>
            <a:spLocks noGrp="1"/>
          </p:cNvSpPr>
          <p:nvPr>
            <p:ph type="title"/>
          </p:nvPr>
        </p:nvSpPr>
        <p:spPr/>
        <p:txBody>
          <a:bodyPr/>
          <a:lstStyle/>
          <a:p>
            <a:r>
              <a:rPr lang="fr-FR" dirty="0"/>
              <a:t>PostgreSQL pour le Stockage :</a:t>
            </a:r>
          </a:p>
        </p:txBody>
      </p:sp>
      <p:sp>
        <p:nvSpPr>
          <p:cNvPr id="3" name="Espace réservé du contenu 2">
            <a:extLst>
              <a:ext uri="{FF2B5EF4-FFF2-40B4-BE49-F238E27FC236}">
                <a16:creationId xmlns:a16="http://schemas.microsoft.com/office/drawing/2014/main" id="{8A424E0B-6E23-2085-E51F-378C86749F8D}"/>
              </a:ext>
            </a:extLst>
          </p:cNvPr>
          <p:cNvSpPr>
            <a:spLocks noGrp="1"/>
          </p:cNvSpPr>
          <p:nvPr>
            <p:ph idx="1"/>
          </p:nvPr>
        </p:nvSpPr>
        <p:spPr>
          <a:xfrm>
            <a:off x="1024128" y="2657474"/>
            <a:ext cx="9720073" cy="3651885"/>
          </a:xfrm>
        </p:spPr>
        <p:txBody>
          <a:bodyPr/>
          <a:lstStyle/>
          <a:p>
            <a:r>
              <a:rPr lang="fr-FR" dirty="0"/>
              <a:t>Stockage des données sur PostgreSQL (Azure) :</a:t>
            </a:r>
          </a:p>
          <a:p>
            <a:r>
              <a:rPr lang="fr-FR" dirty="0"/>
              <a:t>- Requêtes météo</a:t>
            </a:r>
          </a:p>
          <a:p>
            <a:r>
              <a:rPr lang="fr-FR" dirty="0"/>
              <a:t>- Feedbacks utilisateur</a:t>
            </a:r>
          </a:p>
          <a:p>
            <a:endParaRPr lang="fr-FR" dirty="0"/>
          </a:p>
        </p:txBody>
      </p:sp>
    </p:spTree>
    <p:extLst>
      <p:ext uri="{BB962C8B-B14F-4D97-AF65-F5344CB8AC3E}">
        <p14:creationId xmlns:p14="http://schemas.microsoft.com/office/powerpoint/2010/main" val="14164967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6DF887-205E-0B01-68A1-4624875110AE}"/>
              </a:ext>
            </a:extLst>
          </p:cNvPr>
          <p:cNvSpPr>
            <a:spLocks noGrp="1"/>
          </p:cNvSpPr>
          <p:nvPr>
            <p:ph type="title"/>
          </p:nvPr>
        </p:nvSpPr>
        <p:spPr/>
        <p:txBody>
          <a:bodyPr/>
          <a:lstStyle/>
          <a:p>
            <a:r>
              <a:rPr lang="fr-FR" dirty="0" err="1"/>
              <a:t>Prometheus</a:t>
            </a:r>
            <a:r>
              <a:rPr lang="fr-FR" dirty="0"/>
              <a:t> pour la Surveillance</a:t>
            </a:r>
          </a:p>
        </p:txBody>
      </p:sp>
      <p:sp>
        <p:nvSpPr>
          <p:cNvPr id="3" name="Espace réservé du contenu 2">
            <a:extLst>
              <a:ext uri="{FF2B5EF4-FFF2-40B4-BE49-F238E27FC236}">
                <a16:creationId xmlns:a16="http://schemas.microsoft.com/office/drawing/2014/main" id="{7260356D-7965-4A5F-25BD-B630EAC8DAC4}"/>
              </a:ext>
            </a:extLst>
          </p:cNvPr>
          <p:cNvSpPr>
            <a:spLocks noGrp="1"/>
          </p:cNvSpPr>
          <p:nvPr>
            <p:ph idx="1"/>
          </p:nvPr>
        </p:nvSpPr>
        <p:spPr/>
        <p:txBody>
          <a:bodyPr/>
          <a:lstStyle/>
          <a:p>
            <a:r>
              <a:rPr lang="fr-FR" dirty="0"/>
              <a:t>L’application collecte et analyse les métriques système avec </a:t>
            </a:r>
            <a:r>
              <a:rPr lang="fr-FR" dirty="0" err="1"/>
              <a:t>Prometheus</a:t>
            </a:r>
            <a:r>
              <a:rPr lang="fr-FR" dirty="0"/>
              <a:t> :</a:t>
            </a:r>
          </a:p>
          <a:p>
            <a:r>
              <a:rPr lang="fr-FR" dirty="0"/>
              <a:t>- Nombre total de requêtes HTTP</a:t>
            </a:r>
          </a:p>
          <a:p>
            <a:r>
              <a:rPr lang="fr-FR" dirty="0"/>
              <a:t>- Temps de réponse moyen</a:t>
            </a:r>
          </a:p>
          <a:p>
            <a:r>
              <a:rPr lang="fr-FR" dirty="0"/>
              <a:t>- Nombre total d’erreurs</a:t>
            </a:r>
          </a:p>
          <a:p>
            <a:r>
              <a:rPr lang="fr-FR" dirty="0"/>
              <a:t>- Nombre de requêtes de prévision</a:t>
            </a:r>
          </a:p>
          <a:p>
            <a:r>
              <a:rPr lang="fr-FR" dirty="0"/>
              <a:t>- Feedbacks reçus</a:t>
            </a:r>
          </a:p>
          <a:p>
            <a:endParaRPr lang="fr-FR" dirty="0"/>
          </a:p>
          <a:p>
            <a:r>
              <a:rPr lang="fr-FR" dirty="0"/>
              <a:t>Les données peuvent être visualisées via </a:t>
            </a:r>
            <a:r>
              <a:rPr lang="fr-FR" dirty="0" err="1"/>
              <a:t>Grafana</a:t>
            </a:r>
            <a:r>
              <a:rPr lang="fr-FR" dirty="0"/>
              <a:t>.</a:t>
            </a:r>
          </a:p>
          <a:p>
            <a:endParaRPr lang="fr-FR" dirty="0"/>
          </a:p>
        </p:txBody>
      </p:sp>
    </p:spTree>
    <p:extLst>
      <p:ext uri="{BB962C8B-B14F-4D97-AF65-F5344CB8AC3E}">
        <p14:creationId xmlns:p14="http://schemas.microsoft.com/office/powerpoint/2010/main" val="2495648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83F9FF3F-50F8-2409-A229-36558A6E2A89}"/>
              </a:ext>
            </a:extLst>
          </p:cNvPr>
          <p:cNvSpPr>
            <a:spLocks noGrp="1"/>
          </p:cNvSpPr>
          <p:nvPr>
            <p:ph type="title"/>
          </p:nvPr>
        </p:nvSpPr>
        <p:spPr>
          <a:xfrm>
            <a:off x="1024128" y="585216"/>
            <a:ext cx="9720072" cy="1499616"/>
          </a:xfrm>
        </p:spPr>
        <p:txBody>
          <a:bodyPr anchor="ctr">
            <a:normAutofit/>
          </a:bodyPr>
          <a:lstStyle/>
          <a:p>
            <a:r>
              <a:rPr lang="en-US" dirty="0" err="1"/>
              <a:t>Démonstration</a:t>
            </a:r>
            <a:endParaRPr lang="en-US"/>
          </a:p>
        </p:txBody>
      </p:sp>
      <p:pic>
        <p:nvPicPr>
          <p:cNvPr id="7" name="Image 6" descr="Une image contenant texte, capture d’écran, Police&#10;&#10;Le contenu généré par l’IA peut être incorrect.">
            <a:extLst>
              <a:ext uri="{FF2B5EF4-FFF2-40B4-BE49-F238E27FC236}">
                <a16:creationId xmlns:a16="http://schemas.microsoft.com/office/drawing/2014/main" id="{93ECA1A6-85C3-A767-94BC-471A0B5A263B}"/>
              </a:ext>
            </a:extLst>
          </p:cNvPr>
          <p:cNvPicPr>
            <a:picLocks noChangeAspect="1"/>
          </p:cNvPicPr>
          <p:nvPr/>
        </p:nvPicPr>
        <p:blipFill>
          <a:blip r:embed="rId2"/>
          <a:stretch>
            <a:fillRect/>
          </a:stretch>
        </p:blipFill>
        <p:spPr>
          <a:xfrm>
            <a:off x="2678301" y="2286000"/>
            <a:ext cx="6411727" cy="4023360"/>
          </a:xfrm>
          <a:prstGeom prst="rect">
            <a:avLst/>
          </a:prstGeom>
          <a:noFill/>
        </p:spPr>
      </p:pic>
    </p:spTree>
    <p:extLst>
      <p:ext uri="{BB962C8B-B14F-4D97-AF65-F5344CB8AC3E}">
        <p14:creationId xmlns:p14="http://schemas.microsoft.com/office/powerpoint/2010/main" val="31985287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9FCFEF2-DD6B-F0C6-C9DC-3B4F73F17F57}"/>
              </a:ext>
            </a:extLst>
          </p:cNvPr>
          <p:cNvSpPr>
            <a:spLocks noGrp="1"/>
          </p:cNvSpPr>
          <p:nvPr>
            <p:ph type="title"/>
          </p:nvPr>
        </p:nvSpPr>
        <p:spPr>
          <a:xfrm>
            <a:off x="457200" y="4960138"/>
            <a:ext cx="7772400" cy="1463040"/>
          </a:xfrm>
        </p:spPr>
        <p:txBody>
          <a:bodyPr/>
          <a:lstStyle/>
          <a:p>
            <a:pPr algn="ctr"/>
            <a:r>
              <a:rPr lang="en-US" dirty="0"/>
              <a:t>MERCI DE VOTRE ATTENTION</a:t>
            </a:r>
          </a:p>
        </p:txBody>
      </p:sp>
      <p:pic>
        <p:nvPicPr>
          <p:cNvPr id="5" name="Image 4" descr="Une image contenant plein air, nature, nuage, Cumulus&#10;&#10;Le contenu généré par l’IA peut être incorrect.">
            <a:extLst>
              <a:ext uri="{FF2B5EF4-FFF2-40B4-BE49-F238E27FC236}">
                <a16:creationId xmlns:a16="http://schemas.microsoft.com/office/drawing/2014/main" id="{A038C2AA-4CC2-E8E7-C3E9-CE537B8433E4}"/>
              </a:ext>
            </a:extLst>
          </p:cNvPr>
          <p:cNvPicPr>
            <a:picLocks noChangeAspect="1"/>
          </p:cNvPicPr>
          <p:nvPr/>
        </p:nvPicPr>
        <p:blipFill>
          <a:blip r:embed="rId2"/>
          <a:srcRect t="31804" r="-1" b="12002"/>
          <a:stretch/>
        </p:blipFill>
        <p:spPr>
          <a:xfrm>
            <a:off x="20" y="-1"/>
            <a:ext cx="12188932" cy="4572000"/>
          </a:xfrm>
          <a:prstGeom prst="rect">
            <a:avLst/>
          </a:prstGeom>
          <a:noFill/>
        </p:spPr>
      </p:pic>
      <p:pic>
        <p:nvPicPr>
          <p:cNvPr id="7" name="Image 6" descr="Une image contenant texte, capture d’écran, Police, logo&#10;&#10;Le contenu généré par l’IA peut être incorrect.">
            <a:extLst>
              <a:ext uri="{FF2B5EF4-FFF2-40B4-BE49-F238E27FC236}">
                <a16:creationId xmlns:a16="http://schemas.microsoft.com/office/drawing/2014/main" id="{1D3FCB18-48B6-0ED3-815F-6BC476ED7E1B}"/>
              </a:ext>
            </a:extLst>
          </p:cNvPr>
          <p:cNvPicPr>
            <a:picLocks noChangeAspect="1"/>
          </p:cNvPicPr>
          <p:nvPr/>
        </p:nvPicPr>
        <p:blipFill>
          <a:blip r:embed="rId3"/>
          <a:stretch>
            <a:fillRect/>
          </a:stretch>
        </p:blipFill>
        <p:spPr>
          <a:xfrm>
            <a:off x="7586134" y="4766732"/>
            <a:ext cx="3090334" cy="1177826"/>
          </a:xfrm>
          <a:prstGeom prst="rect">
            <a:avLst/>
          </a:prstGeom>
        </p:spPr>
      </p:pic>
      <p:pic>
        <p:nvPicPr>
          <p:cNvPr id="3" name="Image 2" descr="Une image contenant symbole, Graphique, logo, cercle&#10;&#10;Le contenu généré par l’IA peut être incorrect.">
            <a:extLst>
              <a:ext uri="{FF2B5EF4-FFF2-40B4-BE49-F238E27FC236}">
                <a16:creationId xmlns:a16="http://schemas.microsoft.com/office/drawing/2014/main" id="{40370AA8-2E86-2AAD-9142-56420F518EB3}"/>
              </a:ext>
            </a:extLst>
          </p:cNvPr>
          <p:cNvPicPr>
            <a:picLocks noChangeAspect="1"/>
          </p:cNvPicPr>
          <p:nvPr/>
        </p:nvPicPr>
        <p:blipFill>
          <a:blip r:embed="rId4"/>
          <a:stretch>
            <a:fillRect/>
          </a:stretch>
        </p:blipFill>
        <p:spPr>
          <a:xfrm>
            <a:off x="9837701" y="5960532"/>
            <a:ext cx="2141832" cy="731901"/>
          </a:xfrm>
          <a:prstGeom prst="rect">
            <a:avLst/>
          </a:prstGeom>
        </p:spPr>
      </p:pic>
    </p:spTree>
    <p:extLst>
      <p:ext uri="{BB962C8B-B14F-4D97-AF65-F5344CB8AC3E}">
        <p14:creationId xmlns:p14="http://schemas.microsoft.com/office/powerpoint/2010/main" val="211231721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é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Office_36804943_TF22378848.potx" id="{64A03BB9-641C-4E3F-A694-C453BE723143}" vid="{428F3FFD-DDE8-4CA6-BE65-84BE1BF156DB}"/>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88A2F88-55C5-4ED1-9541-807C65424763}">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61EAB5F-88FC-4FAE-AE3C-037A3C365E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F44C90D-2A62-4985-9618-3460247437B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Conception intégrale</Template>
  <TotalTime>115</TotalTime>
  <Words>716</Words>
  <Application>Microsoft Office PowerPoint</Application>
  <PresentationFormat>Grand écran</PresentationFormat>
  <Paragraphs>68</Paragraphs>
  <Slides>13</Slides>
  <Notes>6</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13</vt:i4>
      </vt:variant>
    </vt:vector>
  </HeadingPairs>
  <TitlesOfParts>
    <vt:vector size="21" baseType="lpstr">
      <vt:lpstr>Arial</vt:lpstr>
      <vt:lpstr>Calibri</vt:lpstr>
      <vt:lpstr>gg sans</vt:lpstr>
      <vt:lpstr>inherit</vt:lpstr>
      <vt:lpstr>Tw Cen MT</vt:lpstr>
      <vt:lpstr>Tw Cen MT Condensed</vt:lpstr>
      <vt:lpstr>Wingdings 3</vt:lpstr>
      <vt:lpstr>Intégral</vt:lpstr>
      <vt:lpstr>Application Météo : Votre Assistant Météo Personnel</vt:lpstr>
      <vt:lpstr>Présentation PowerPoint</vt:lpstr>
      <vt:lpstr>PLANNING:</vt:lpstr>
      <vt:lpstr>Présentation PowerPoint</vt:lpstr>
      <vt:lpstr>Présentation PowerPoint</vt:lpstr>
      <vt:lpstr>FastAPI pour le Backend</vt:lpstr>
      <vt:lpstr>API Open-Meteo pour les Prévisions fourni des prévisions météorologiques basées sur la localisation.</vt:lpstr>
      <vt:lpstr>API Azure Speech-to-Text : utilisé pour convertir les commandes vocales en texte</vt:lpstr>
      <vt:lpstr>API OpenStreetMap pour la Géolocalisation:  </vt:lpstr>
      <vt:lpstr>PostgreSQL pour le Stockage :</vt:lpstr>
      <vt:lpstr>Prometheus pour la Surveillance</vt:lpstr>
      <vt:lpstr>Démonstration</vt:lpstr>
      <vt:lpstr>MERCI DE VOTRE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seb bondoux</dc:creator>
  <cp:lastModifiedBy>seb bondoux</cp:lastModifiedBy>
  <cp:revision>7</cp:revision>
  <dcterms:created xsi:type="dcterms:W3CDTF">2025-03-03T08:33:16Z</dcterms:created>
  <dcterms:modified xsi:type="dcterms:W3CDTF">2025-03-04T05:50:55Z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